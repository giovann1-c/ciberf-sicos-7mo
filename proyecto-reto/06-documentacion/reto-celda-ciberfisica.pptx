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MXN</c:v>
                </c:pt>
              </c:strCache>
            </c:strRef>
          </c:tx>
          <c:dPt>
            <c:idx val="0"/>
            <c:spPr>
              <a:solidFill>
                <a:srgbClr val="8A979C"/>
              </a:solidFill>
            </c:spPr>
          </c:dPt>
          <c:dPt>
            <c:idx val="1"/>
            <c:spPr>
              <a:solidFill>
                <a:srgbClr val="5C4A8A"/>
              </a:solidFill>
            </c:spPr>
          </c:dPt>
          <c:dPt>
            <c:idx val="2"/>
            <c:spPr>
              <a:solidFill>
                <a:srgbClr val="136A80"/>
              </a:solidFill>
            </c:spPr>
          </c:dPt>
          <c:dPt>
            <c:idx val="3"/>
            <c:spPr>
              <a:solidFill>
                <a:srgbClr val="D8491A"/>
              </a:solidFill>
            </c:spPr>
          </c:dPt>
          <c:cat>
            <c:strRef>
              <c:f>Sheet1!$A$2:$A$5</c:f>
              <c:strCache>
                <c:ptCount val="4"/>
                <c:pt idx="0">
                  <c:v>Celda (2)</c:v>
                </c:pt>
                <c:pt idx="1">
                  <c:v>Visión (1)</c:v>
                </c:pt>
                <c:pt idx="2">
                  <c:v>Brazo y riel (2)</c:v>
                </c:pt>
                <c:pt idx="3">
                  <c:v>AGV (15 materiales)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6500</c:v>
                </c:pt>
                <c:pt idx="1">
                  <c:v>7800</c:v>
                </c:pt>
                <c:pt idx="2">
                  <c:v>30400</c:v>
                </c:pt>
                <c:pt idx="3">
                  <c:v>39340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sz="1100">
                  <a:solidFill>
                    <a:srgbClr val="12181C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2181C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5000.0"/>
          <c:min val="0.0"/>
        </c:scaling>
        <c:delete val="0"/>
        <c:axPos val="b"/>
        <c:majorGridlines>
          <c:spPr>
            <a:ln w="9525">
              <a:solidFill>
                <a:srgbClr val="E1E8E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8A979C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D8491A"/>
                </a:solidFill>
                <a:latin typeface="Calibri"/>
              </a:rPr>
              <a:t>RETO MR3005C.601   ·   AGO–DIC 2026   ·   PLAN DE DIRECCIÓN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Celda ciberfísica de</a:t>
            </a:r>
          </a:p>
          <a:p>
            <a:pPr algn="l">
              <a:lnSpc>
                <a:spcPts val="5200"/>
              </a:lnSpc>
            </a:pPr>
            <a:r>
              <a:rPr sz="4400" b="1" i="0">
                <a:solidFill>
                  <a:srgbClr val="FFFFFF"/>
                </a:solidFill>
                <a:latin typeface="Arial"/>
              </a:rPr>
              <a:t>alimentación robotizada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AEBDC2"/>
                </a:solidFill>
                <a:latin typeface="Calibri"/>
              </a:rPr>
              <a:t>AGV omnidireccional + brazo colaborativo sobre riel + visión industrial,</a:t>
            </a:r>
          </a:p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AEBDC2"/>
                </a:solidFill>
                <a:latin typeface="Calibri"/>
              </a:rPr>
              <a:t>coordinados con un CNC Haas.</a:t>
            </a:r>
          </a:p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AEBDC2"/>
                </a:solidFill>
                <a:latin typeface="Calibri"/>
              </a:rPr>
              <a:t/>
            </a:r>
          </a:p>
          <a:p>
            <a:pPr algn="l">
              <a:lnSpc>
                <a:spcPts val="2600"/>
              </a:lnSpc>
            </a:pPr>
            <a:r>
              <a:rPr sz="1700" b="0" i="0">
                <a:solidFill>
                  <a:srgbClr val="AEBDC2"/>
                </a:solidFill>
                <a:latin typeface="Calibri"/>
              </a:rPr>
              <a:t>16 semanas   ·   36 % de la calificación   ·   0 días de holgura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Lo que decide este proyecto son las compras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No la programación. El riel lineal y el LiDAR tardan seis semanas en llegar.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383280" cy="1874519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D8491A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8529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181C"/>
                </a:solidFill>
                <a:latin typeface="Calibri"/>
              </a:rPr>
              <a:t>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5468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6646A"/>
                </a:solidFill>
                <a:latin typeface="Calibri"/>
              </a:rPr>
              <a:t>de lead time en el riel lineal y el LiDAR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383280" cy="1874519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AC2A21"/>
                </a:solidFill>
                <a:latin typeface="Arial"/>
              </a:rPr>
              <a:t>6 sep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8529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181C"/>
                </a:solidFill>
                <a:latin typeface="Calibri"/>
              </a:rPr>
              <a:t>fecha límite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15468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6646A"/>
                </a:solidFill>
                <a:latin typeface="Calibri"/>
              </a:rPr>
              <a:t>para emitir las órdenes de compra críticas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74519"/>
            <a:ext cx="3383280" cy="1874519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75320" y="2011680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136A80"/>
                </a:solidFill>
                <a:latin typeface="Arial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8529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2181C"/>
                </a:solidFill>
                <a:latin typeface="Calibri"/>
              </a:rPr>
              <a:t>días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15468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6646A"/>
                </a:solidFill>
                <a:latin typeface="Calibri"/>
              </a:rPr>
              <a:t>de holgura en toda la ruta crítica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23360"/>
            <a:ext cx="10744200" cy="1920240"/>
          </a:xfrm>
          <a:prstGeom prst="roundRect">
            <a:avLst>
              <a:gd name="adj" fmla="val 6000"/>
            </a:avLst>
          </a:prstGeom>
          <a:solidFill>
            <a:srgbClr val="1B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8491A"/>
                </a:solidFill>
                <a:latin typeface="Arial"/>
              </a:rPr>
              <a:t>El escenario que hay que evitar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590288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1500" b="0" i="0">
                <a:solidFill>
                  <a:srgbClr val="D5DEE1"/>
                </a:solidFill>
                <a:latin typeface="Calibri"/>
              </a:rPr>
              <a:t>Si la orden sale al terminar el diseño de detalle —lo natural— el material llega el 8 de noviembre.</a:t>
            </a:r>
          </a:p>
          <a:p>
            <a:pPr algn="l">
              <a:lnSpc>
                <a:spcPts val="2500"/>
              </a:lnSpc>
            </a:pPr>
            <a:r>
              <a:rPr sz="1500" b="0" i="0">
                <a:solidFill>
                  <a:srgbClr val="D5DEE1"/>
                </a:solidFill>
                <a:latin typeface="Calibri"/>
              </a:rPr>
              <a:t>Quedan tres semanas para integrar, validar y documentar. No alcanza.</a:t>
            </a:r>
          </a:p>
          <a:p>
            <a:pPr algn="l">
              <a:lnSpc>
                <a:spcPts val="2500"/>
              </a:lnSpc>
            </a:pPr>
            <a:r>
              <a:rPr sz="1500" b="0" i="0">
                <a:solidFill>
                  <a:srgbClr val="D5DEE1"/>
                </a:solidFill>
                <a:latin typeface="Calibri"/>
              </a:rPr>
              <a:t>Las fases no se comprimen: se recorta el final, que es donde viven las tres evidencias que más pesan.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Tres subsistemas, una celda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El AGV entrega en una estación de handoff, no en la máquina. Esa división relaja la repetibilidad exigida al SLAM.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83280" cy="352044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78408" y="2084831"/>
            <a:ext cx="420624" cy="420624"/>
          </a:xfrm>
          <a:prstGeom prst="ellipse">
            <a:avLst/>
          </a:prstGeom>
          <a:solidFill>
            <a:srgbClr val="D84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8483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69748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181C"/>
                </a:solidFill>
                <a:latin typeface="Arial"/>
              </a:rPr>
              <a:t>AGV omnidireccional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364992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Cuatro ruedas mecanum. Navega por SLAM 2D con LiDAR y Nav2 sobre ROS 2. Transporta el pallet hasta el handoff con docking por AprilTag.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48463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D8491A"/>
                </a:solidFill>
                <a:latin typeface="Calibri"/>
              </a:rPr>
              <a:t>Repetibilidad ≤ ±10 mm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28800"/>
            <a:ext cx="3383280" cy="352044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636008" y="2084831"/>
            <a:ext cx="420624" cy="420624"/>
          </a:xfrm>
          <a:prstGeom prst="ellipse">
            <a:avLst/>
          </a:prstGeom>
          <a:solidFill>
            <a:srgbClr val="13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208483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69748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181C"/>
                </a:solidFill>
                <a:latin typeface="Arial"/>
              </a:rPr>
              <a:t>Brazo sobre riel lineal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364992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Séptimo eje externo de 2.5 m. Toma la pieza del pallet y la deposita en el fixture indexado sobre la mesa del Haas.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48463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36A80"/>
                </a:solidFill>
                <a:latin typeface="Calibri"/>
              </a:rPr>
              <a:t>Trayectorias enseñadas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28800"/>
            <a:ext cx="3383280" cy="352044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8293608" y="2084831"/>
            <a:ext cx="420624" cy="420624"/>
          </a:xfrm>
          <a:prstGeom prst="ellipse">
            <a:avLst/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084831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69748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2181C"/>
                </a:solidFill>
                <a:latin typeface="Arial"/>
              </a:rPr>
              <a:t>Visión industrial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364992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Cámara RGB-D que verifica pass/fail que la pieza esté bien asentada antes de habilitar el ciclo de maquinado.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484632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C4A8A"/>
                </a:solidFill>
                <a:latin typeface="Calibri"/>
              </a:rPr>
              <a:t>Respuesta &lt; 3 segundos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623560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56646A"/>
                </a:solidFill>
                <a:latin typeface="Calibri"/>
              </a:rPr>
              <a:t>Control PI / PD / PID sobre microcontrolador NXP S32K312     ·     Coordinación con el CNC por MTConnect, SMB y M-códigos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Arquitectura de la celda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El material fluye de izquierda a derecha. El supervisor observa el CNC, pero no lo manda.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1783080"/>
            <a:ext cx="4206240" cy="713232"/>
          </a:xfrm>
          <a:prstGeom prst="roundRect">
            <a:avLst>
              <a:gd name="adj" fmla="val 6000"/>
            </a:avLst>
          </a:prstGeom>
          <a:solidFill>
            <a:srgbClr val="13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931920" y="1892807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Supervisor de celda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9456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DCEBEF"/>
                </a:solidFill>
                <a:latin typeface="Calibri"/>
              </a:rPr>
              <a:t>máquina de estados  ·  dashboard OEE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6700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136A80"/>
                </a:solidFill>
                <a:latin typeface="Calibri"/>
              </a:rPr>
              <a:t>MQTT  ·  MTConnect :8082  ·  SMB  ·  I/O discreta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00400"/>
            <a:ext cx="1920240" cy="896112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346704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2181C"/>
                </a:solidFill>
                <a:latin typeface="Arial"/>
              </a:rPr>
              <a:t>Estación de carga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9417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6646A"/>
                </a:solidFill>
                <a:latin typeface="Calibri"/>
              </a:rPr>
              <a:t>pallet de 5 piezas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42616" y="3566160"/>
            <a:ext cx="256032" cy="164592"/>
          </a:xfrm>
          <a:prstGeom prst="rightArrow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35224" y="3200400"/>
            <a:ext cx="1920240" cy="896112"/>
          </a:xfrm>
          <a:prstGeom prst="roundRect">
            <a:avLst>
              <a:gd name="adj" fmla="val 6000"/>
            </a:avLst>
          </a:prstGeom>
          <a:solidFill>
            <a:srgbClr val="FBE7DF"/>
          </a:solidFill>
          <a:ln w="25400">
            <a:solidFill>
              <a:srgbClr val="D84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5224" y="3346704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2181C"/>
                </a:solidFill>
                <a:latin typeface="Arial"/>
              </a:rPr>
              <a:t>AGV mecanum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369417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6646A"/>
                </a:solidFill>
                <a:latin typeface="Calibri"/>
              </a:rPr>
              <a:t>SLAM · Nav2 · NXP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92040" y="3566160"/>
            <a:ext cx="256032" cy="164592"/>
          </a:xfrm>
          <a:prstGeom prst="rightArrow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84648" y="3200400"/>
            <a:ext cx="1920240" cy="896112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84648" y="3346704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2181C"/>
                </a:solidFill>
                <a:latin typeface="Arial"/>
              </a:rPr>
              <a:t>Handoff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369417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6646A"/>
                </a:solidFill>
                <a:latin typeface="Calibri"/>
              </a:rPr>
              <a:t>AprilTag · conos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41464" y="3566160"/>
            <a:ext cx="256032" cy="164592"/>
          </a:xfrm>
          <a:prstGeom prst="rightArrow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34071" y="3200400"/>
            <a:ext cx="1920240" cy="896112"/>
          </a:xfrm>
          <a:prstGeom prst="roundRect">
            <a:avLst>
              <a:gd name="adj" fmla="val 6000"/>
            </a:avLst>
          </a:prstGeom>
          <a:solidFill>
            <a:srgbClr val="FBE7DF"/>
          </a:solidFill>
          <a:ln w="25400">
            <a:solidFill>
              <a:srgbClr val="D84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34071" y="3346704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2181C"/>
                </a:solidFill>
                <a:latin typeface="Arial"/>
              </a:rPr>
              <a:t>Brazo + riel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4071" y="369417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6646A"/>
                </a:solidFill>
                <a:latin typeface="Calibri"/>
              </a:rPr>
              <a:t>7.º eje · 2.5 m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390888" y="3566160"/>
            <a:ext cx="256032" cy="164592"/>
          </a:xfrm>
          <a:prstGeom prst="rightArrow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83496" y="3200400"/>
            <a:ext cx="1920240" cy="896112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83496" y="3346704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 i="0">
                <a:solidFill>
                  <a:srgbClr val="12181C"/>
                </a:solidFill>
                <a:latin typeface="Arial"/>
              </a:rPr>
              <a:t>CNC Haas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3496" y="3694176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6646A"/>
                </a:solidFill>
                <a:latin typeface="Calibri"/>
              </a:rPr>
              <a:t>fixture indexado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83496" y="4526280"/>
            <a:ext cx="1920240" cy="749808"/>
          </a:xfrm>
          <a:prstGeom prst="roundRect">
            <a:avLst>
              <a:gd name="adj" fmla="val 6000"/>
            </a:avLst>
          </a:prstGeom>
          <a:solidFill>
            <a:srgbClr val="EDE9F5"/>
          </a:solidFill>
          <a:ln w="25400">
            <a:solidFill>
              <a:srgbClr val="5C4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83496" y="466344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2181C"/>
                </a:solidFill>
                <a:latin typeface="Arial"/>
              </a:rPr>
              <a:t>Visión RGB-D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83496" y="4974336"/>
            <a:ext cx="1920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6646A"/>
                </a:solidFill>
                <a:latin typeface="Calibri"/>
              </a:rPr>
              <a:t>pass / fail</a:t>
            </a:r>
          </a:p>
        </p:txBody>
      </p:sp>
      <p:sp>
        <p:nvSpPr>
          <p:cNvPr id="31" name="Up Arrow 30"/>
          <p:cNvSpPr/>
          <p:nvPr/>
        </p:nvSpPr>
        <p:spPr>
          <a:xfrm>
            <a:off x="10561320" y="4133087"/>
            <a:ext cx="182880" cy="365760"/>
          </a:xfrm>
          <a:prstGeom prst="upArrow">
            <a:avLst/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5577840"/>
            <a:ext cx="8686800" cy="77724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60120" y="5742432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2181C"/>
                </a:solidFill>
                <a:latin typeface="Calibri"/>
              </a:rPr>
              <a:t>El veredicto de visión es una guarda obligatoria: el supervisor solo habilita el ciclo del CNC cuando la cámara aprueba.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Por qué tres protocolos y no uno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MTConnect es de solo lectura por diseño. Lo que no puede hacer lo resuelve el canal discreto.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744200" cy="118872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60120" y="2249424"/>
            <a:ext cx="438912" cy="438912"/>
          </a:xfrm>
          <a:prstGeom prst="ellipse">
            <a:avLst/>
          </a:prstGeom>
          <a:solidFill>
            <a:srgbClr val="13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942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09397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81C"/>
                </a:solidFill>
                <a:latin typeface="Arial"/>
              </a:rPr>
              <a:t>Observación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45059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36A80"/>
                </a:solidFill>
                <a:latin typeface="Courier New"/>
              </a:rPr>
              <a:t>MTConnect :8082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874519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Solo lectura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74519"/>
            <a:ext cx="52120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2181C"/>
                </a:solidFill>
                <a:latin typeface="Calibri"/>
              </a:rPr>
              <a:t>Estado del CNC cada 250 ms: ejecución, modo, programa activo y alarmas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46120"/>
            <a:ext cx="10744200" cy="118872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960120" y="3621024"/>
            <a:ext cx="438912" cy="438912"/>
          </a:xfrm>
          <a:prstGeom prst="ellipse">
            <a:avLst/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62102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46557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81C"/>
                </a:solidFill>
                <a:latin typeface="Arial"/>
              </a:rPr>
              <a:t>Transferencia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822191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5C4A8A"/>
                </a:solidFill>
                <a:latin typeface="Courier New"/>
              </a:rPr>
              <a:t>Net Share (SMB)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4612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Escritura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246120"/>
            <a:ext cx="52120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2181C"/>
                </a:solidFill>
                <a:latin typeface="Calibri"/>
              </a:rPr>
              <a:t>Deposita los programas .nc con hash de contenido para no sobrescribir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617720"/>
            <a:ext cx="10744200" cy="118872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60120" y="4992624"/>
            <a:ext cx="438912" cy="438912"/>
          </a:xfrm>
          <a:prstGeom prst="ellipse">
            <a:avLst/>
          </a:prstGeom>
          <a:solidFill>
            <a:srgbClr val="D84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9262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83717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81C"/>
                </a:solidFill>
                <a:latin typeface="Arial"/>
              </a:rPr>
              <a:t>Handshake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1937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D8491A"/>
                </a:solidFill>
                <a:latin typeface="Courier New"/>
              </a:rPr>
              <a:t>M-códigos + I/O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617720"/>
            <a:ext cx="17373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Bidireccional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617720"/>
            <a:ext cx="52120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2181C"/>
                </a:solidFill>
                <a:latin typeface="Calibri"/>
              </a:rPr>
              <a:t>Habilita el ciclo y avisa cuándo terminó. Es lo que MTConnect no puede hacer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172200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6646A"/>
                </a:solidFill>
                <a:latin typeface="Calibri"/>
              </a:rPr>
              <a:t>La arquitectura es transferible al ecosistema FANUC vía FOCAS 2 sin cambio estructural — argumento de transferencia industrial.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Tres capas de cómputo, un canal de seguridad aparte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Si el software falla, el vehículo se detiene igual. Esa es la única garantía que cuenta.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7315200" cy="105156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98424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81C"/>
                </a:solidFill>
                <a:latin typeface="Arial"/>
              </a:rPr>
              <a:t>Supervisor de celda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6035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Máquina de estados · MTConnect · SMB · handshake I/O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98424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36A80"/>
                </a:solidFill>
                <a:latin typeface="Calibri"/>
              </a:rPr>
              <a:t>orquestación</a:t>
            </a:r>
          </a:p>
        </p:txBody>
      </p:sp>
      <p:sp>
        <p:nvSpPr>
          <p:cNvPr id="9" name="Down Arrow 8"/>
          <p:cNvSpPr/>
          <p:nvPr/>
        </p:nvSpPr>
        <p:spPr>
          <a:xfrm>
            <a:off x="4251960" y="2898648"/>
            <a:ext cx="182880" cy="146304"/>
          </a:xfrm>
          <a:prstGeom prst="downArrow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7315200" cy="105156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321868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81C"/>
                </a:solidFill>
                <a:latin typeface="Arial"/>
              </a:rPr>
              <a:t>SBC Linux · ROS 2 Humble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11880"/>
            <a:ext cx="6035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SLAM · Nav2 · docking AprilTag · cliente MQTT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21868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136A80"/>
                </a:solidFill>
                <a:latin typeface="Calibri"/>
              </a:rPr>
              <a:t>tiempo real suave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251960" y="4133087"/>
            <a:ext cx="182880" cy="146304"/>
          </a:xfrm>
          <a:prstGeom prst="downArrow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85800" y="4297680"/>
            <a:ext cx="7315200" cy="1051560"/>
          </a:xfrm>
          <a:prstGeom prst="roundRect">
            <a:avLst>
              <a:gd name="adj" fmla="val 6000"/>
            </a:avLst>
          </a:prstGeom>
          <a:solidFill>
            <a:srgbClr val="FBE7DF"/>
          </a:solidFill>
          <a:ln w="25400">
            <a:solidFill>
              <a:srgbClr val="D84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445312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81C"/>
                </a:solidFill>
                <a:latin typeface="Arial"/>
              </a:rPr>
              <a:t>NXP S32K312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46320"/>
            <a:ext cx="60350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PWM · encoders · IMU · lazos PI/PD/PID · watchdog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453128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D8491A"/>
                </a:solidFill>
                <a:latin typeface="Calibri"/>
              </a:rPr>
              <a:t>≥ 200 Hz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66760" y="1828800"/>
            <a:ext cx="3063240" cy="370332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25400">
            <a:solidFill>
              <a:srgbClr val="AC2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6760" y="205740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AC2A21"/>
                </a:solidFill>
                <a:latin typeface="Arial"/>
              </a:rPr>
              <a:t>Canal de seguridad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39572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AC2A21"/>
                </a:solidFill>
                <a:latin typeface="Calibri"/>
              </a:rPr>
              <a:t>cableado  ·  independiente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852928"/>
            <a:ext cx="24231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AC2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686800" y="2852928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12181C"/>
                </a:solidFill>
                <a:latin typeface="Calibri"/>
              </a:rPr>
              <a:t>Paro de emergencia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3904487"/>
            <a:ext cx="242316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AC2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0" y="3904487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i="0">
                <a:solidFill>
                  <a:srgbClr val="12181C"/>
                </a:solidFill>
                <a:latin typeface="Calibri"/>
              </a:rPr>
              <a:t>Etapa de potencia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811512" y="3456432"/>
            <a:ext cx="182880" cy="384048"/>
          </a:xfrm>
          <a:prstGeom prst="downArrow">
            <a:avLst/>
          </a:prstGeom>
          <a:solidFill>
            <a:srgbClr val="AC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709160"/>
            <a:ext cx="2423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AC2A21"/>
                </a:solidFill>
                <a:latin typeface="Calibri"/>
              </a:rPr>
              <a:t>Corta sin pasar por</a:t>
            </a:r>
          </a:p>
          <a:p>
            <a:pPr algn="ctr"/>
            <a:r>
              <a:rPr sz="1200" b="1" i="0">
                <a:solidFill>
                  <a:srgbClr val="AC2A21"/>
                </a:solidFill>
                <a:latin typeface="Calibri"/>
              </a:rPr>
              <a:t>ningún 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715000"/>
            <a:ext cx="7315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6646A"/>
                </a:solidFill>
                <a:latin typeface="Calibri"/>
              </a:rPr>
              <a:t>Riesgo R5: cuatro lazos a 200 Hz sobre un solo S32K312. Se mide en la semana 8, no en la 14 — el plan B (segundo MCU) necesita tiempo de compra.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Cinemática mecanum y lazos de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Cuatro ruedas a 45°. La velocidad del cuerpo se reparte entre las cuatro.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669280" cy="2103120"/>
          </a:xfrm>
          <a:prstGeom prst="roundRect">
            <a:avLst>
              <a:gd name="adj" fmla="val 6000"/>
            </a:avLst>
          </a:prstGeom>
          <a:solidFill>
            <a:srgbClr val="1B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2048256"/>
            <a:ext cx="530352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400" b="0" i="0">
                <a:solidFill>
                  <a:srgbClr val="9FD8E6"/>
                </a:solidFill>
                <a:latin typeface="Courier New"/>
              </a:rPr>
              <a:t>w1 = (1/R) · ( vx − vy − (lx+ly)·wz )</a:t>
            </a:r>
          </a:p>
          <a:p>
            <a:pPr algn="l">
              <a:lnSpc>
                <a:spcPts val="2700"/>
              </a:lnSpc>
            </a:pPr>
            <a:r>
              <a:rPr sz="1400" b="0" i="0">
                <a:solidFill>
                  <a:srgbClr val="9FD8E6"/>
                </a:solidFill>
                <a:latin typeface="Courier New"/>
              </a:rPr>
              <a:t>w2 = (1/R) · ( vx + vy + (lx+ly)·wz )</a:t>
            </a:r>
          </a:p>
          <a:p>
            <a:pPr algn="l">
              <a:lnSpc>
                <a:spcPts val="2700"/>
              </a:lnSpc>
            </a:pPr>
            <a:r>
              <a:rPr sz="1400" b="0" i="0">
                <a:solidFill>
                  <a:srgbClr val="9FD8E6"/>
                </a:solidFill>
                <a:latin typeface="Courier New"/>
              </a:rPr>
              <a:t>w3 = (1/R) · ( vx + vy − (lx+ly)·wz )</a:t>
            </a:r>
          </a:p>
          <a:p>
            <a:pPr algn="l">
              <a:lnSpc>
                <a:spcPts val="2700"/>
              </a:lnSpc>
            </a:pPr>
            <a:r>
              <a:rPr sz="1400" b="0" i="0">
                <a:solidFill>
                  <a:srgbClr val="9FD8E6"/>
                </a:solidFill>
                <a:latin typeface="Courier New"/>
              </a:rPr>
              <a:t>w4 = (1/R) · ( vx − vy + (lx+ly)·wz 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828800"/>
            <a:ext cx="4892040" cy="210312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25400">
            <a:solidFill>
              <a:srgbClr val="AC2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12280" y="201168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AC2A21"/>
                </a:solidFill>
                <a:latin typeface="Arial"/>
              </a:rPr>
              <a:t>Verifiquen los signos antes de energizar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395728"/>
            <a:ext cx="438912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2181C"/>
                </a:solidFill>
                <a:latin typeface="Calibri"/>
              </a:rPr>
              <a:t>Un signo invertido hace que el AGV se mueva en diagonal cuando se le pide avanzar, y el síntoma se confunde con mala sintonía.</a:t>
            </a:r>
          </a:p>
          <a:p>
            <a:pPr algn="l"/>
            <a:r>
              <a:rPr sz="1250" b="0" i="0">
                <a:solidFill>
                  <a:srgbClr val="12181C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12181C"/>
                </a:solidFill>
                <a:latin typeface="Calibri"/>
              </a:rPr>
              <a:t>Las mecanum patinan por diseño: la odometría acumula error. Fusionar con IMU y corregir con LiDAR no es opcional.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206240"/>
            <a:ext cx="868680" cy="512064"/>
          </a:xfrm>
          <a:prstGeom prst="roundRect">
            <a:avLst>
              <a:gd name="adj" fmla="val 6000"/>
            </a:avLst>
          </a:prstGeom>
          <a:solidFill>
            <a:srgbClr val="13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4206240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2181C"/>
                </a:solidFill>
                <a:latin typeface="Calibri"/>
              </a:rPr>
              <a:t>Velocidad de rueda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206240"/>
            <a:ext cx="6583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Elimina error permanente. Sin derivativo: el encoder mete ruido que la derivada amplifica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864607"/>
            <a:ext cx="868680" cy="512064"/>
          </a:xfrm>
          <a:prstGeom prst="roundRect">
            <a:avLst>
              <a:gd name="adj" fmla="val 6000"/>
            </a:avLst>
          </a:prstGeom>
          <a:solidFill>
            <a:srgbClr val="13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4864607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864607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2181C"/>
                </a:solidFill>
                <a:latin typeface="Calibri"/>
              </a:rPr>
              <a:t>Posición del riel y orientación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864607"/>
            <a:ext cx="6583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Amortigua sin introducir error de estado estacionario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522975"/>
            <a:ext cx="868680" cy="512064"/>
          </a:xfrm>
          <a:prstGeom prst="roundRect">
            <a:avLst>
              <a:gd name="adj" fmla="val 6000"/>
            </a:avLst>
          </a:prstGeom>
          <a:solidFill>
            <a:srgbClr val="13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5800" y="5522975"/>
            <a:ext cx="868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522975"/>
            <a:ext cx="30175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2181C"/>
                </a:solidFill>
                <a:latin typeface="Calibri"/>
              </a:rPr>
              <a:t>Posición del AGV en docking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522975"/>
            <a:ext cx="658368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Necesita precisión y amortiguamiento al mismo tiempo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263640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1">
                <a:solidFill>
                  <a:srgbClr val="56646A"/>
                </a:solidFill>
                <a:latin typeface="Calibri"/>
              </a:rPr>
              <a:t>Obligatorios: anti-windup, filtro en el derivativo, watchdog a 200 ms y rampa de aceleración. Cada juego de ganancias se documenta en bitácora.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El ciclo de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Doce estados. La visión no corrige nada: solo vota, y su voto es obligatorio.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383280" cy="987552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914400" y="2167127"/>
            <a:ext cx="402336" cy="402336"/>
          </a:xfrm>
          <a:prstGeom prst="ellipse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67127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74519"/>
            <a:ext cx="246888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2181C"/>
                </a:solidFill>
                <a:latin typeface="Calibri"/>
              </a:rPr>
              <a:t>AGV llega al handoff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383280" cy="987552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572000" y="2167127"/>
            <a:ext cx="402336" cy="402336"/>
          </a:xfrm>
          <a:prstGeom prst="ellipse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167127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874519"/>
            <a:ext cx="246888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2181C"/>
                </a:solidFill>
                <a:latin typeface="Calibri"/>
              </a:rPr>
              <a:t>Brazo toma la pieza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74519"/>
            <a:ext cx="3383280" cy="987552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229600" y="2167127"/>
            <a:ext cx="402336" cy="402336"/>
          </a:xfrm>
          <a:prstGeom prst="ellipse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167127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874519"/>
            <a:ext cx="246888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2181C"/>
                </a:solidFill>
                <a:latin typeface="Calibri"/>
              </a:rPr>
              <a:t>Recorre el riel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08960"/>
            <a:ext cx="3383280" cy="987552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14400" y="3401568"/>
            <a:ext cx="402336" cy="402336"/>
          </a:xfrm>
          <a:prstGeom prst="ellipse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0156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108960"/>
            <a:ext cx="246888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2181C"/>
                </a:solidFill>
                <a:latin typeface="Calibri"/>
              </a:rPr>
              <a:t>Deposita en el fixture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108960"/>
            <a:ext cx="3383280" cy="987552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572000" y="3401568"/>
            <a:ext cx="402336" cy="402336"/>
          </a:xfrm>
          <a:prstGeom prst="ellipse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40156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108960"/>
            <a:ext cx="246888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2181C"/>
                </a:solidFill>
                <a:latin typeface="Calibri"/>
              </a:rPr>
              <a:t>Retrae a pose segura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108960"/>
            <a:ext cx="3383280" cy="987552"/>
          </a:xfrm>
          <a:prstGeom prst="roundRect">
            <a:avLst>
              <a:gd name="adj" fmla="val 6000"/>
            </a:avLst>
          </a:prstGeom>
          <a:solidFill>
            <a:srgbClr val="EDE9F5"/>
          </a:solidFill>
          <a:ln w="25400">
            <a:solidFill>
              <a:srgbClr val="5C4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229600" y="3401568"/>
            <a:ext cx="402336" cy="402336"/>
          </a:xfrm>
          <a:prstGeom prst="ellipse">
            <a:avLst/>
          </a:prstGeom>
          <a:solidFill>
            <a:srgbClr val="5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40156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108960"/>
            <a:ext cx="2468880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2181C"/>
                </a:solidFill>
                <a:latin typeface="Calibri"/>
              </a:rPr>
              <a:t>Visión verifica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526280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E3F1E8"/>
          </a:solidFill>
          <a:ln w="25400">
            <a:solidFill>
              <a:srgbClr val="2C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60120" y="46634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C7A4E"/>
                </a:solidFill>
                <a:latin typeface="Arial"/>
              </a:rPr>
              <a:t>PASS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992624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2181C"/>
                </a:solidFill>
                <a:latin typeface="Calibri"/>
              </a:rPr>
              <a:t>El supervisor habilita el ciclo → el CNC maquina → el brazo retira la pieza → el AGV retorna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526280"/>
            <a:ext cx="5166360" cy="105156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25400">
            <a:solidFill>
              <a:srgbClr val="AC2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37960" y="466344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AC2A21"/>
                </a:solidFill>
                <a:latin typeface="Arial"/>
              </a:rPr>
              <a:t>FAIL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992624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12181C"/>
                </a:solidFill>
                <a:latin typeface="Calibri"/>
              </a:rPr>
              <a:t>Aborta la secuencia, notifica al operador y pide intervención manual. Evita la colisión herramienta–fixture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806440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0" i="0">
                <a:solidFill>
                  <a:srgbClr val="56646A"/>
                </a:solidFill>
                <a:latin typeface="Calibri"/>
              </a:rPr>
              <a:t>Cuatro criterios:   presencia   ·   orientación   ·   asentamiento sobre topes   ·   ausencia de objetos extraños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Dieciséis semanas, cero holgura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Cualquier retraso en compras se traslada íntegro al final.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8A979C"/>
                </a:solidFill>
                <a:latin typeface="Calibri"/>
              </a:rPr>
              <a:t>F0   Arranque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984248"/>
            <a:ext cx="689000" cy="256032"/>
          </a:xfrm>
          <a:prstGeom prst="roundRect">
            <a:avLst>
              <a:gd name="adj" fmla="val 6000"/>
            </a:avLst>
          </a:prstGeom>
          <a:solidFill>
            <a:srgbClr val="C9D2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46920" y="1920240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56646A"/>
                </a:solidFill>
                <a:latin typeface="Calibri"/>
              </a:rPr>
              <a:t>10–23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04872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12181C"/>
                </a:solidFill>
                <a:latin typeface="Calibri"/>
              </a:rPr>
              <a:t>F1   Definición y compras críticas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6600" y="2468879"/>
            <a:ext cx="689000" cy="256032"/>
          </a:xfrm>
          <a:prstGeom prst="roundRect">
            <a:avLst>
              <a:gd name="adj" fmla="val 6000"/>
            </a:avLst>
          </a:prstGeom>
          <a:solidFill>
            <a:srgbClr val="D84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46920" y="240487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56646A"/>
                </a:solidFill>
                <a:latin typeface="Calibri"/>
              </a:rPr>
              <a:t>24 ago – 6 sep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9504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2181C"/>
                </a:solidFill>
                <a:latin typeface="Calibri"/>
              </a:rPr>
              <a:t>F2   Diseño de detalle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5600" y="2953512"/>
            <a:ext cx="1033500" cy="256032"/>
          </a:xfrm>
          <a:prstGeom prst="roundRect">
            <a:avLst>
              <a:gd name="adj" fmla="val 6000"/>
            </a:avLst>
          </a:prstGeom>
          <a:solidFill>
            <a:srgbClr val="13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46920" y="2889504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56646A"/>
                </a:solidFill>
                <a:latin typeface="Calibri"/>
              </a:rPr>
              <a:t>7–27 sep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74136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2181C"/>
                </a:solidFill>
                <a:latin typeface="Calibri"/>
              </a:rPr>
              <a:t>F3   Fabricación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9101" y="3438144"/>
            <a:ext cx="1378000" cy="256032"/>
          </a:xfrm>
          <a:prstGeom prst="roundRect">
            <a:avLst>
              <a:gd name="adj" fmla="val 6000"/>
            </a:avLst>
          </a:prstGeom>
          <a:solidFill>
            <a:srgbClr val="13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46920" y="3374136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56646A"/>
                </a:solidFill>
                <a:latin typeface="Calibri"/>
              </a:rPr>
              <a:t>28 sep – 25 oct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58768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2181C"/>
                </a:solidFill>
                <a:latin typeface="Calibri"/>
              </a:rPr>
              <a:t>F4   Navegación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47102" y="3922776"/>
            <a:ext cx="689000" cy="256032"/>
          </a:xfrm>
          <a:prstGeom prst="roundRect">
            <a:avLst>
              <a:gd name="adj" fmla="val 6000"/>
            </a:avLst>
          </a:prstGeom>
          <a:solidFill>
            <a:srgbClr val="13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46920" y="3858768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56646A"/>
                </a:solidFill>
                <a:latin typeface="Calibri"/>
              </a:rPr>
              <a:t>26 oct – 8 nov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43400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2181C"/>
                </a:solidFill>
                <a:latin typeface="Calibri"/>
              </a:rPr>
              <a:t>F5   Celda completa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6102" y="4407408"/>
            <a:ext cx="689000" cy="256032"/>
          </a:xfrm>
          <a:prstGeom prst="roundRect">
            <a:avLst>
              <a:gd name="adj" fmla="val 6000"/>
            </a:avLst>
          </a:prstGeom>
          <a:solidFill>
            <a:srgbClr val="13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46920" y="4343400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56646A"/>
                </a:solidFill>
                <a:latin typeface="Calibri"/>
              </a:rPr>
              <a:t>9–22 nov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828032"/>
            <a:ext cx="2834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12181C"/>
                </a:solidFill>
                <a:latin typeface="Calibri"/>
              </a:rPr>
              <a:t>F6   Cierre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5103" y="4892040"/>
            <a:ext cx="657682" cy="256032"/>
          </a:xfrm>
          <a:prstGeom prst="roundRect">
            <a:avLst>
              <a:gd name="adj" fmla="val 6000"/>
            </a:avLst>
          </a:prstGeom>
          <a:solidFill>
            <a:srgbClr val="136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46920" y="4828032"/>
            <a:ext cx="1783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0" i="0">
                <a:solidFill>
                  <a:srgbClr val="56646A"/>
                </a:solidFill>
                <a:latin typeface="Calibri"/>
              </a:rPr>
              <a:t>23 nov – 6 dic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40680"/>
            <a:ext cx="10744200" cy="1097280"/>
          </a:xfrm>
          <a:prstGeom prst="roundRect">
            <a:avLst>
              <a:gd name="adj" fmla="val 6000"/>
            </a:avLst>
          </a:prstGeom>
          <a:solidFill>
            <a:srgbClr val="FBE7DF"/>
          </a:solidFill>
          <a:ln w="25400">
            <a:solidFill>
              <a:srgbClr val="D84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596128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8491A"/>
                </a:solidFill>
                <a:latin typeface="Arial"/>
              </a:rPr>
              <a:t>Hito H1  ·  6 de septiembre  ·  emitir las órdenes de compra críticas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96188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2181C"/>
                </a:solidFill>
                <a:latin typeface="Calibri"/>
              </a:rPr>
              <a:t>Riel lineal, LiDAR, batería, módulo I/O y SBC — $60,500 MXN. Con el diseño congelado solo en interfaces mecánicas y eléctricas, no en el CAD terminado.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Presupuesto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La meta de la propuesta era menos de $55,000 para el AGV. El AGV va dentro de meta.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828800"/>
          <a:ext cx="65836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635240" y="1828800"/>
            <a:ext cx="3794760" cy="338328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09560" y="21031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12181C"/>
                </a:solidFill>
                <a:latin typeface="Arial"/>
              </a:rPr>
              <a:t>$84,040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9560" y="26334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Materiales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3182111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56646A"/>
                </a:solidFill>
                <a:latin typeface="Arial"/>
              </a:rPr>
              <a:t>$12,600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712463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Contingencia 15 %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4261104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D8491A"/>
                </a:solidFill>
                <a:latin typeface="Arial"/>
              </a:rPr>
              <a:t>$96,640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47914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Total del proyecto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440680"/>
            <a:ext cx="10744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2181C"/>
                </a:solidFill>
                <a:latin typeface="Calibri"/>
              </a:rPr>
              <a:t>Dónde está el desbordamiento: el riel lineal ($28,000) y la visión ($7,800), que no son parte del AGV. Si hay que recortar, el riel es el candidato — bajar la carrera de 2.5 a 1.5 m y reubicar el handoff.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Los riesgos que pueden costar el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Tres tienen exposición muy alta. Los tres se resuelven esta semana.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44200" cy="73152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AC2A21"/>
                </a:solidFill>
                <a:latin typeface="Arial"/>
              </a:rPr>
              <a:t>R7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2880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2181C"/>
                </a:solidFill>
                <a:latin typeface="Calibri"/>
              </a:rPr>
              <a:t>Fabricar el brazo consume el semestre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048256"/>
            <a:ext cx="1097280" cy="301752"/>
          </a:xfrm>
          <a:prstGeom prst="roundRect">
            <a:avLst>
              <a:gd name="adj" fmla="val 6000"/>
            </a:avLst>
          </a:prstGeom>
          <a:solidFill>
            <a:srgbClr val="AC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120640" y="2048256"/>
            <a:ext cx="1097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MUY ALTA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Decidir cobot comercial contra propio antes del 28 de agosto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88336"/>
            <a:ext cx="10744200" cy="73152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2688336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AC2A21"/>
                </a:solidFill>
                <a:latin typeface="Arial"/>
              </a:rPr>
              <a:t>R6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88336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2181C"/>
                </a:solidFill>
                <a:latin typeface="Calibri"/>
              </a:rPr>
              <a:t>El equipo no cierra el BOM a tiempo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907791"/>
            <a:ext cx="1097280" cy="301752"/>
          </a:xfrm>
          <a:prstGeom prst="roundRect">
            <a:avLst>
              <a:gd name="adj" fmla="val 6000"/>
            </a:avLst>
          </a:prstGeom>
          <a:solidFill>
            <a:srgbClr val="AC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120640" y="2907791"/>
            <a:ext cx="1097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MUY ALTA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688336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Fecha límite dura el 1 de septiembre, revisión diaria en Notion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47872"/>
            <a:ext cx="10744200" cy="73152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547872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AC2A21"/>
                </a:solidFill>
                <a:latin typeface="Arial"/>
              </a:rPr>
              <a:t>R1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547872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2181C"/>
                </a:solidFill>
                <a:latin typeface="Calibri"/>
              </a:rPr>
              <a:t>El LiDAR se retrasa cuatro semanas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0" y="3767328"/>
            <a:ext cx="1097280" cy="301752"/>
          </a:xfrm>
          <a:prstGeom prst="roundRect">
            <a:avLst>
              <a:gd name="adj" fmla="val 6000"/>
            </a:avLst>
          </a:prstGeom>
          <a:solidFill>
            <a:srgbClr val="AC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120640" y="3767328"/>
            <a:ext cx="1097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MUY ALTA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47872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Comprar antes del 6 sep, distribuidor nacional. Nav2 en Gazebo mientras llega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07408"/>
            <a:ext cx="10744200" cy="73152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" y="4407408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A8721A"/>
                </a:solidFill>
                <a:latin typeface="Arial"/>
              </a:rPr>
              <a:t>R4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407408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2181C"/>
                </a:solidFill>
                <a:latin typeface="Calibri"/>
              </a:rPr>
              <a:t>Sin acceso al CNC Haas en noviembre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4626864"/>
            <a:ext cx="1097280" cy="301752"/>
          </a:xfrm>
          <a:prstGeom prst="roundRect">
            <a:avLst>
              <a:gd name="adj" fmla="val 6000"/>
            </a:avLst>
          </a:prstGeom>
          <a:solidFill>
            <a:srgbClr val="A87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120640" y="4626864"/>
            <a:ext cx="1097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07408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Reservar la ventana ya. Plan B: agente MTConnect simulado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266944"/>
            <a:ext cx="10744200" cy="73152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14400" y="5266944"/>
            <a:ext cx="640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A8721A"/>
                </a:solidFill>
                <a:latin typeface="Arial"/>
              </a:rPr>
              <a:t>R2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266944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 i="0">
                <a:solidFill>
                  <a:srgbClr val="12181C"/>
                </a:solidFill>
                <a:latin typeface="Calibri"/>
              </a:rPr>
              <a:t>El riel no llega o no cumple carrera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5486400"/>
            <a:ext cx="1097280" cy="301752"/>
          </a:xfrm>
          <a:prstGeom prst="roundRect">
            <a:avLst>
              <a:gd name="adj" fmla="val 6000"/>
            </a:avLst>
          </a:prstGeom>
          <a:solidFill>
            <a:srgbClr val="A87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20640" y="5486400"/>
            <a:ext cx="10972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ALTA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266944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Cotizar dos proveedores. Plan B: carrera de 1.5 m y reubicar el handoff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217920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6646A"/>
                </a:solidFill>
                <a:latin typeface="Calibri"/>
              </a:rPr>
              <a:t>Reserva de contingencia: 15 % del presupuesto y una semana de holgura, que solo libera el director de proyecto.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Tres decisiones abiertas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Ninguna es técnica en el fondo. Las tres son de alcance, y encarecen cada semana que pasan sin resolverse.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383280" cy="3749039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960120" y="2148840"/>
            <a:ext cx="1234440" cy="365760"/>
          </a:xfrm>
          <a:prstGeom prst="roundRect">
            <a:avLst>
              <a:gd name="adj" fmla="val 6000"/>
            </a:avLst>
          </a:prstGeom>
          <a:solidFill>
            <a:srgbClr val="AC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28 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81C"/>
                </a:solidFill>
                <a:latin typeface="Arial"/>
              </a:rPr>
              <a:t>¿Brazo propio o cobot comercial?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1188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La propuesta original asume un cobot comercial: UR3e, Doosan o Techman. Fabricar el brazo desde cero es un proyecto completo por sí solo.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0749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AC2A21"/>
                </a:solidFill>
                <a:latin typeface="Calibri"/>
              </a:rPr>
              <a:t>Es la decisión más cara del semestre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383280" cy="3749039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617720" y="2148840"/>
            <a:ext cx="1234440" cy="365760"/>
          </a:xfrm>
          <a:prstGeom prst="roundRect">
            <a:avLst>
              <a:gd name="adj" fmla="val 6000"/>
            </a:avLst>
          </a:prstGeom>
          <a:solidFill>
            <a:srgbClr val="A87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617720" y="214884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 sep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70048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81C"/>
                </a:solidFill>
                <a:latin typeface="Arial"/>
              </a:rPr>
              <a:t>El NXP no puede correr ROS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61188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El S32K312 sirve para los lazos de motor, pero SLAM y Nav2 necesitan Linux. Ya se agregó una SBC al presupuesto.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50749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A8721A"/>
                </a:solidFill>
                <a:latin typeface="Calibri"/>
              </a:rPr>
              <a:t>~$12,000 que no estaban contemplados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74519"/>
            <a:ext cx="3383280" cy="3749039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275320" y="2148840"/>
            <a:ext cx="1234440" cy="365760"/>
          </a:xfrm>
          <a:prstGeom prst="roundRect">
            <a:avLst>
              <a:gd name="adj" fmla="val 6000"/>
            </a:avLst>
          </a:prstGeom>
          <a:solidFill>
            <a:srgbClr val="A87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75320" y="214884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 sep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670048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2181C"/>
                </a:solidFill>
                <a:latin typeface="Arial"/>
              </a:rPr>
              <a:t>Mecanum cambia la cinemática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61188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6646A"/>
                </a:solidFill>
                <a:latin typeface="Calibri"/>
              </a:rPr>
              <a:t>Cuatro motores con encoder controlados independientemente y modelo omnidireccional, no diferencial.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507492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A8721A"/>
                </a:solidFill>
                <a:latin typeface="Calibri"/>
              </a:rPr>
              <a:t>Afecta driver, firmware y presupuesto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2148840"/>
            <a:ext cx="868680" cy="868680"/>
          </a:xfrm>
          <a:prstGeom prst="ellipse">
            <a:avLst/>
          </a:prstGeom>
          <a:solidFill>
            <a:srgbClr val="D84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148840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Cómo vamos a trabajar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200400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AEBDC2"/>
                </a:solidFill>
                <a:latin typeface="Calibri"/>
              </a:rPr>
              <a:t>Notion para el equipo  ·  Teams para la conversación  ·  Canvas para las entregas  ·  Claude como agente de gestión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El flujo de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Nadie comparte una cuenta y ningún dato vive en dos lugares a la vez.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03120"/>
            <a:ext cx="2468880" cy="105156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254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230428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2181C"/>
                </a:solidFill>
                <a:latin typeface="Arial"/>
              </a:rPr>
              <a:t>Equipo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6646A"/>
                </a:solidFill>
                <a:latin typeface="Calibri"/>
              </a:rPr>
              <a:t>4 integrantes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09544" y="2551176"/>
            <a:ext cx="256032" cy="164592"/>
          </a:xfrm>
          <a:prstGeom prst="rightArrow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27889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A979C"/>
                </a:solidFill>
                <a:latin typeface="Calibri"/>
              </a:rPr>
              <a:t>captura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103120"/>
            <a:ext cx="2468880" cy="1051560"/>
          </a:xfrm>
          <a:prstGeom prst="roundRect">
            <a:avLst>
              <a:gd name="adj" fmla="val 6000"/>
            </a:avLst>
          </a:prstGeom>
          <a:solidFill>
            <a:srgbClr val="DCEBEF"/>
          </a:solidFill>
          <a:ln w="25400">
            <a:solidFill>
              <a:srgbClr val="136A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20440" y="230428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2181C"/>
                </a:solidFill>
                <a:latin typeface="Arial"/>
              </a:rPr>
              <a:t>Notion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97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6646A"/>
                </a:solidFill>
                <a:latin typeface="Calibri"/>
              </a:rPr>
              <a:t>tareas · BOM · riesgos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44183" y="2551176"/>
            <a:ext cx="256032" cy="164592"/>
          </a:xfrm>
          <a:prstGeom prst="rightArrow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06440" y="27889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A979C"/>
                </a:solidFill>
                <a:latin typeface="Calibri"/>
              </a:rPr>
              <a:t>valida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103120"/>
            <a:ext cx="2468880" cy="1051560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254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55080" y="230428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2181C"/>
                </a:solidFill>
                <a:latin typeface="Arial"/>
              </a:rPr>
              <a:t>Rodrigo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697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6646A"/>
                </a:solidFill>
                <a:latin typeface="Calibri"/>
              </a:rPr>
              <a:t>director de proyecto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78824" y="2551176"/>
            <a:ext cx="256032" cy="164592"/>
          </a:xfrm>
          <a:prstGeom prst="rightArrow">
            <a:avLst/>
          </a:prstGeom>
          <a:solidFill>
            <a:srgbClr val="8A9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27889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A979C"/>
                </a:solidFill>
                <a:latin typeface="Calibri"/>
              </a:rPr>
              <a:t>pide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103120"/>
            <a:ext cx="2468880" cy="1051560"/>
          </a:xfrm>
          <a:prstGeom prst="roundRect">
            <a:avLst>
              <a:gd name="adj" fmla="val 6000"/>
            </a:avLst>
          </a:prstGeom>
          <a:solidFill>
            <a:srgbClr val="FBE7DF"/>
          </a:solidFill>
          <a:ln w="25400">
            <a:solidFill>
              <a:srgbClr val="D84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189720" y="230428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i="0">
                <a:solidFill>
                  <a:srgbClr val="12181C"/>
                </a:solidFill>
                <a:latin typeface="Arial"/>
              </a:rPr>
              <a:t>Claude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697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56646A"/>
                </a:solidFill>
                <a:latin typeface="Calibri"/>
              </a:rPr>
              <a:t>agente / project manager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3611880"/>
            <a:ext cx="242316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84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006840" y="3611880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i="0">
                <a:solidFill>
                  <a:srgbClr val="12181C"/>
                </a:solidFill>
                <a:latin typeface="Calibri"/>
              </a:rPr>
              <a:t>PO  ·  OF  ·  hojas viajeras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4343400"/>
            <a:ext cx="242316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84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06840" y="4343400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i="0">
                <a:solidFill>
                  <a:srgbClr val="12181C"/>
                </a:solidFill>
                <a:latin typeface="Calibri"/>
              </a:rPr>
              <a:t>Guías  ·  briefs  ·  análisis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10131552" y="3200400"/>
            <a:ext cx="182880" cy="365760"/>
          </a:xfrm>
          <a:prstGeom prst="downArrow">
            <a:avLst/>
          </a:prstGeom>
          <a:solidFill>
            <a:srgbClr val="D84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5303520"/>
            <a:ext cx="10744200" cy="1051560"/>
          </a:xfrm>
          <a:prstGeom prst="roundRect">
            <a:avLst>
              <a:gd name="adj" fmla="val 6000"/>
            </a:avLst>
          </a:prstGeom>
          <a:solidFill>
            <a:srgbClr val="1B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60120" y="557784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D5DEE1"/>
                </a:solidFill>
                <a:latin typeface="Calibri"/>
              </a:rPr>
              <a:t>Claude genera el documento; Rodrigo autoriza. El equipo nunca toca la cuenta y aun así todo lo que captura llega a los entregables.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Claude como agente y project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Lo que sí hace y lo que deliberadamente no hace.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349240" cy="3931920"/>
          </a:xfrm>
          <a:prstGeom prst="roundRect">
            <a:avLst>
              <a:gd name="adj" fmla="val 6000"/>
            </a:avLst>
          </a:prstGeom>
          <a:solidFill>
            <a:srgbClr val="E3F1E8"/>
          </a:solidFill>
          <a:ln w="25400">
            <a:solidFill>
              <a:srgbClr val="2C7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2C7A4E"/>
                </a:solidFill>
                <a:latin typeface="Arial"/>
              </a:rPr>
              <a:t>Lo que hace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42032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Emite PO, órdenes de fabricación y hojas viajeras en el formato del profesor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Calcula fechas de llegada por lead time y avisa qué está en riesgo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Brief automático de lunes a sábado a las 7:03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Responde dudas citando archivo y página de un índice de 773 páginas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Transcribe las libretas de GoodNotes y las conecta con el proyecto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Sincroniza Notion, archivos locales y Google Calendar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BEAE8"/>
          </a:solidFill>
          <a:ln w="25400">
            <a:solidFill>
              <a:srgbClr val="AC2A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29400" y="20574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AC2A21"/>
                </a:solidFill>
                <a:latin typeface="Arial"/>
              </a:rPr>
              <a:t>Lo que no hace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542032"/>
            <a:ext cx="448056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No decide el alcance. Señala las divergencias; la decisión es del equipo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No compra ni compromete dinero. Genera la orden; la autoriza Rodrigo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No sustituye al director de proyecto. Rodrigo aprueba y responde</a:t>
            </a:r>
          </a:p>
          <a:p>
            <a:pPr algn="l">
              <a:spcAft>
                <a:spcPts val="800"/>
              </a:spcAft>
            </a:pPr>
            <a:r>
              <a:rPr sz="1350" b="0" i="0">
                <a:solidFill>
                  <a:srgbClr val="12181C"/>
                </a:solidFill>
                <a:latin typeface="Calibri"/>
              </a:rPr>
              <a:t>·  No lo usa el equipo directamente. Una sola cuenta, sin compartir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989320"/>
            <a:ext cx="10744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50" b="0" i="1">
                <a:solidFill>
                  <a:srgbClr val="56646A"/>
                </a:solidFill>
                <a:latin typeface="Calibri"/>
              </a:rPr>
              <a:t>Un agente que recuerda, documenta y vigila plazos. No un sustituto del criterio de ingeniería.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2181C"/>
                </a:solidFill>
                <a:latin typeface="Arial"/>
              </a:rPr>
              <a:t>El ritmo semanal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70432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56646A"/>
                </a:solidFill>
                <a:latin typeface="Calibri"/>
              </a:rPr>
              <a:t>Seis momentos fijos. Todo lo demás es trabajo técnico.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10744200" cy="603504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36A80"/>
                </a:solidFill>
                <a:latin typeface="Calibri"/>
              </a:rPr>
              <a:t>Lunes 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828800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2181C"/>
                </a:solidFill>
                <a:latin typeface="Calibri"/>
              </a:rPr>
              <a:t>Junta de avance y actualización de Notion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1828800"/>
            <a:ext cx="17830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50" b="0" i="0">
                <a:solidFill>
                  <a:srgbClr val="56646A"/>
                </a:solidFill>
                <a:latin typeface="Calibri"/>
              </a:rPr>
              <a:t>Equipo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42032"/>
            <a:ext cx="10744200" cy="603504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2542032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36A80"/>
                </a:solidFill>
                <a:latin typeface="Calibri"/>
              </a:rPr>
              <a:t>Lunes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542032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2181C"/>
                </a:solidFill>
                <a:latin typeface="Calibri"/>
              </a:rPr>
              <a:t>Planeación de la semana y estado del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542032"/>
            <a:ext cx="17830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50" b="0" i="0">
                <a:solidFill>
                  <a:srgbClr val="56646A"/>
                </a:solidFill>
                <a:latin typeface="Calibri"/>
              </a:rPr>
              <a:t>Rodrigo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55264"/>
            <a:ext cx="10744200" cy="603504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0120" y="3255264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36A80"/>
                </a:solidFill>
                <a:latin typeface="Calibri"/>
              </a:rPr>
              <a:t>Diario 7:03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255264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2181C"/>
                </a:solidFill>
                <a:latin typeface="Calibri"/>
              </a:rPr>
              <a:t>Brief automático con alertas de plazo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255264"/>
            <a:ext cx="17830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50" b="0" i="0">
                <a:solidFill>
                  <a:srgbClr val="56646A"/>
                </a:solidFill>
                <a:latin typeface="Calibri"/>
              </a:rPr>
              <a:t>Claude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68496"/>
            <a:ext cx="10744200" cy="603504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60120" y="3968496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36A80"/>
                </a:solidFill>
                <a:latin typeface="Calibri"/>
              </a:rPr>
              <a:t>Al cotizar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968496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2181C"/>
                </a:solidFill>
                <a:latin typeface="Calibri"/>
              </a:rPr>
              <a:t>Actualizar proveedor, costo y lead time en el BOM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968496"/>
            <a:ext cx="17830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50" b="0" i="0">
                <a:solidFill>
                  <a:srgbClr val="56646A"/>
                </a:solidFill>
                <a:latin typeface="Calibri"/>
              </a:rPr>
              <a:t>Quien cotiza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681728"/>
            <a:ext cx="10744200" cy="603504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0120" y="4681728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36A80"/>
                </a:solidFill>
                <a:latin typeface="Calibri"/>
              </a:rPr>
              <a:t>Al aprobar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681728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2181C"/>
                </a:solidFill>
                <a:latin typeface="Calibri"/>
              </a:rPr>
              <a:t>Emitir la orden de compra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681728"/>
            <a:ext cx="17830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50" b="0" i="0">
                <a:solidFill>
                  <a:srgbClr val="56646A"/>
                </a:solidFill>
                <a:latin typeface="Calibri"/>
              </a:rPr>
              <a:t>Rodrigo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394960"/>
            <a:ext cx="10744200" cy="603504"/>
          </a:xfrm>
          <a:prstGeom prst="roundRect">
            <a:avLst>
              <a:gd name="adj" fmla="val 6000"/>
            </a:avLst>
          </a:prstGeom>
          <a:solidFill>
            <a:srgbClr val="EFF3F2"/>
          </a:solidFill>
          <a:ln w="12700">
            <a:solidFill>
              <a:srgbClr val="E1E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0120" y="5394960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36A80"/>
                </a:solidFill>
                <a:latin typeface="Calibri"/>
              </a:rPr>
              <a:t>Viernes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5394960"/>
            <a:ext cx="65836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 i="0">
                <a:solidFill>
                  <a:srgbClr val="12181C"/>
                </a:solidFill>
                <a:latin typeface="Calibri"/>
              </a:rPr>
              <a:t>Revisión de riesgos y avance contra el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5394960"/>
            <a:ext cx="178308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50" b="0" i="0">
                <a:solidFill>
                  <a:srgbClr val="56646A"/>
                </a:solidFill>
                <a:latin typeface="Calibri"/>
              </a:rPr>
              <a:t>Rodrigo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Lo que pasa esta semana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1280160" cy="475488"/>
          </a:xfrm>
          <a:prstGeom prst="roundRect">
            <a:avLst>
              <a:gd name="adj" fmla="val 6000"/>
            </a:avLst>
          </a:prstGeom>
          <a:solidFill>
            <a:srgbClr val="AC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28 ago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103120"/>
            <a:ext cx="8961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Decidir brazo propio contra cobot comercial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61487"/>
            <a:ext cx="1280160" cy="475488"/>
          </a:xfrm>
          <a:prstGeom prst="roundRect">
            <a:avLst>
              <a:gd name="adj" fmla="val 6000"/>
            </a:avLst>
          </a:prstGeom>
          <a:solidFill>
            <a:srgbClr val="A87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2761487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31 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761487"/>
            <a:ext cx="8961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WBS completo y matriz RACI del equipo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419856"/>
            <a:ext cx="1280160" cy="475488"/>
          </a:xfrm>
          <a:prstGeom prst="roundRect">
            <a:avLst>
              <a:gd name="adj" fmla="val 6000"/>
            </a:avLst>
          </a:prstGeom>
          <a:solidFill>
            <a:srgbClr val="AC2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3419856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 sep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3419856"/>
            <a:ext cx="8961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Cerrar el BOM preliminar — bloquea todas las compras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78224"/>
            <a:ext cx="1280160" cy="475488"/>
          </a:xfrm>
          <a:prstGeom prst="roundRect">
            <a:avLst>
              <a:gd name="adj" fmla="val 6000"/>
            </a:avLst>
          </a:prstGeom>
          <a:solidFill>
            <a:srgbClr val="A87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4078224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 sep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078224"/>
            <a:ext cx="8961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Cotizar riel y LiDAR con dos proveedores cada uno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36592"/>
            <a:ext cx="1280160" cy="475488"/>
          </a:xfrm>
          <a:prstGeom prst="roundRect">
            <a:avLst>
              <a:gd name="adj" fmla="val 6000"/>
            </a:avLst>
          </a:prstGeom>
          <a:solidFill>
            <a:srgbClr val="D84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4736592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 sep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736592"/>
            <a:ext cx="8961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Emitir las cinco órdenes de compra críticas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94959"/>
            <a:ext cx="1280160" cy="475488"/>
          </a:xfrm>
          <a:prstGeom prst="roundRect">
            <a:avLst>
              <a:gd name="adj" fmla="val 6000"/>
            </a:avLst>
          </a:prstGeom>
          <a:solidFill>
            <a:srgbClr val="A87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5394959"/>
            <a:ext cx="1280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 sep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5394959"/>
            <a:ext cx="89611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Reservar la ventana de acceso al CNC Haas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AEBDC2"/>
                </a:solidFill>
                <a:latin typeface="Calibri"/>
              </a:rPr>
              <a:t>Si el laboratorio no da acceso al Haas en noviembre, no hay celda que demostrar. Eso no se arregla con dinero ni con horas.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