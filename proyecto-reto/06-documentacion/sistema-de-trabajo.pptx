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iovann1-C/Ciberf-sicos-7mo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laude.ai/code/artifact/60424a47-dd4a-4886-b8c6-f7c64939065b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laude.ai/code/artifact/a16da71d-e2ac-409e-bad1-41566dfaaa90" TargetMode="External"/><Relationship Id="rId3" Type="http://schemas.openxmlformats.org/officeDocument/2006/relationships/hyperlink" Target="https://app.notion.com/p/3c763d9e84498109aed6f0ff6afd4849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iovann1-C/Ciberf-sicos-7mo" TargetMode="External"/><Relationship Id="rId3" Type="http://schemas.openxmlformats.org/officeDocument/2006/relationships/hyperlink" Target="https://claude.ai/code/artifact/60424a47-dd4a-4886-b8c6-f7c64939065b" TargetMode="External"/><Relationship Id="rId4" Type="http://schemas.openxmlformats.org/officeDocument/2006/relationships/hyperlink" Target="https://claude.ai/code/artifact/a16da71d-e2ac-409e-bad1-41566dfaaa90" TargetMode="External"/><Relationship Id="rId5" Type="http://schemas.openxmlformats.org/officeDocument/2006/relationships/hyperlink" Target="https://app.notion.com/p/3c763d9e84498109aed6f0ff6afd4849" TargetMode="External"/><Relationship Id="rId6" Type="http://schemas.openxmlformats.org/officeDocument/2006/relationships/hyperlink" Target="https://app.notion.com/p/06df2c78fc76404692fdd07c03010738" TargetMode="External"/><Relationship Id="rId7" Type="http://schemas.openxmlformats.org/officeDocument/2006/relationships/hyperlink" Target="https://app.notion.com/p/ebf1138625224b23a9982e21b6aa6b9b" TargetMode="External"/><Relationship Id="rId8" Type="http://schemas.openxmlformats.org/officeDocument/2006/relationships/hyperlink" Target="https://experiencia21.tec.mx/courses/707419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8491A"/>
                </a:solidFill>
                <a:latin typeface="Calibri"/>
              </a:rPr>
              <a:t>RETO MR3005C.601   ·   CÓMO VAMOS A TRABAJAR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241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sz="4600" b="1" i="0">
                <a:solidFill>
                  <a:srgbClr val="FFFFFF"/>
                </a:solidFill>
                <a:latin typeface="Arial"/>
              </a:rPr>
              <a:t>Un solo lugar para</a:t>
            </a:r>
          </a:p>
          <a:p>
            <a:pPr algn="l">
              <a:lnSpc>
                <a:spcPts val="5400"/>
              </a:lnSpc>
            </a:pPr>
            <a:r>
              <a:rPr sz="4600" b="1" i="0">
                <a:solidFill>
                  <a:srgbClr val="FFFFFF"/>
                </a:solidFill>
                <a:latin typeface="Arial"/>
              </a:rPr>
              <a:t>todo 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sz="1700" b="0" i="0">
                <a:solidFill>
                  <a:srgbClr val="AEBDC2"/>
                </a:solidFill>
                <a:latin typeface="Calibri"/>
              </a:rPr>
              <a:t>Documentación, compras, tareas y avance conectados entre sí.</a:t>
            </a:r>
          </a:p>
          <a:p>
            <a:pPr algn="l">
              <a:lnSpc>
                <a:spcPts val="2600"/>
              </a:lnSpc>
            </a:pPr>
            <a:r>
              <a:rPr sz="1700" b="0" i="0">
                <a:solidFill>
                  <a:srgbClr val="AEBDC2"/>
                </a:solidFill>
                <a:latin typeface="Calibri"/>
              </a:rPr>
              <a:t>Diez minutos de explicación para ahorrarnos el semestre.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181C"/>
                </a:solidFill>
                <a:latin typeface="Arial"/>
              </a:rPr>
              <a:t>El problema no es que trabajemos poco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6646A"/>
                </a:solidFill>
                <a:latin typeface="Calibri"/>
              </a:rPr>
              <a:t>Es que el trabajo se pierde. Todos hemos vivido esto: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FBEAE8"/>
          </a:solidFill>
          <a:ln w="19050">
            <a:solidFill>
              <a:srgbClr val="AC2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2212848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AC2A21"/>
                </a:solidFill>
                <a:latin typeface="Arial"/>
              </a:rPr>
              <a:t>«¿Dónde quedó ese archivo?»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54680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2181C"/>
                </a:solidFill>
                <a:latin typeface="Calibri"/>
              </a:rPr>
              <a:t>En el WhatsApp de hace tres semanas, en la laptop de alguien que hoy no vino, o en un Drive que nadie recuerda.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FBEAE8"/>
          </a:solidFill>
          <a:ln w="19050">
            <a:solidFill>
              <a:srgbClr val="AC2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17720" y="2212848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AC2A21"/>
                </a:solidFill>
                <a:latin typeface="Arial"/>
              </a:rPr>
              <a:t>«Yo pensé que tú lo estabas haciendo»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154680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2181C"/>
                </a:solidFill>
                <a:latin typeface="Calibri"/>
              </a:rPr>
              <a:t>Dos personas hicieron lo mismo. Una tarea crítica no la hizo nadie. Nos enteramos una semana tarde.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92024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FBEAE8"/>
          </a:solidFill>
          <a:ln w="19050">
            <a:solidFill>
              <a:srgbClr val="AC2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75320" y="2212848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AC2A21"/>
                </a:solidFill>
                <a:latin typeface="Arial"/>
              </a:rPr>
              <a:t>«¿Ya habíamos comprado eso?»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154680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2181C"/>
                </a:solidFill>
                <a:latin typeface="Calibri"/>
              </a:rPr>
              <a:t>Nadie sabe qué se pidió, cuándo llega ni cuánto llevamos gastado. El profe evalúa justo eso.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937760"/>
            <a:ext cx="10744200" cy="1234440"/>
          </a:xfrm>
          <a:prstGeom prst="roundRect">
            <a:avLst>
              <a:gd name="adj" fmla="val 6000"/>
            </a:avLst>
          </a:prstGeom>
          <a:solidFill>
            <a:srgbClr val="1B2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513892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1500" b="0" i="0">
                <a:solidFill>
                  <a:srgbClr val="D5DEE1"/>
                </a:solidFill>
                <a:latin typeface="Calibri"/>
              </a:rPr>
              <a:t>El Reto vale 36 % de la calificación y el profe evalúa la TRAZABILIDAD, no solo que el AGV camine.</a:t>
            </a:r>
          </a:p>
          <a:p>
            <a:pPr algn="l">
              <a:lnSpc>
                <a:spcPts val="2500"/>
              </a:lnSpc>
            </a:pPr>
            <a:r>
              <a:rPr sz="1500" b="0" i="0">
                <a:solidFill>
                  <a:srgbClr val="D5DEE1"/>
                </a:solidFill>
                <a:latin typeface="Calibri"/>
              </a:rPr>
              <a:t>Si no podemos demostrar qué hicimos y cuándo, perdemos puntos aunque el robot funcione.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181C"/>
                </a:solidFill>
                <a:latin typeface="Arial"/>
              </a:rPr>
              <a:t>La idea en una frase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6646A"/>
                </a:solidFill>
                <a:latin typeface="Calibri"/>
              </a:rPr>
              <a:t>Cada cosa vive en un solo lugar, y los lugares están conectados.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2514600" cy="2286000"/>
          </a:xfrm>
          <a:prstGeom prst="roundRect">
            <a:avLst>
              <a:gd name="adj" fmla="val 6000"/>
            </a:avLst>
          </a:prstGeom>
          <a:solidFill>
            <a:srgbClr val="FBE7DF"/>
          </a:solidFill>
          <a:ln w="25400">
            <a:solidFill>
              <a:srgbClr val="D849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941832" y="2240280"/>
            <a:ext cx="420624" cy="420624"/>
          </a:xfrm>
          <a:prstGeom prst="ellipse">
            <a:avLst/>
          </a:prstGeom>
          <a:solidFill>
            <a:srgbClr val="D84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24028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8346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2181C"/>
                </a:solidFill>
                <a:latin typeface="Arial"/>
              </a:rPr>
              <a:t>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29184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6646A"/>
                </a:solidFill>
                <a:latin typeface="Calibri"/>
              </a:rPr>
              <a:t>Archivos y documentación.
La fuente de verdad.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36976" y="3017520"/>
            <a:ext cx="155448" cy="164592"/>
          </a:xfrm>
          <a:prstGeom prst="rightArrow">
            <a:avLst/>
          </a:prstGeom>
          <a:solidFill>
            <a:srgbClr val="8A9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1965960"/>
            <a:ext cx="2514600" cy="2286000"/>
          </a:xfrm>
          <a:prstGeom prst="roundRect">
            <a:avLst>
              <a:gd name="adj" fmla="val 6000"/>
            </a:avLst>
          </a:prstGeom>
          <a:solidFill>
            <a:srgbClr val="E3F1E8"/>
          </a:solidFill>
          <a:ln w="25400">
            <a:solidFill>
              <a:srgbClr val="2C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3685032" y="2240280"/>
            <a:ext cx="420624" cy="420624"/>
          </a:xfrm>
          <a:prstGeom prst="ellipse">
            <a:avLst/>
          </a:prstGeom>
          <a:solidFill>
            <a:srgbClr val="2C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2" y="224028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28346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2181C"/>
                </a:solidFill>
                <a:latin typeface="Arial"/>
              </a:rPr>
              <a:t>Tablero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329184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6646A"/>
                </a:solidFill>
                <a:latin typeface="Calibri"/>
              </a:rPr>
              <a:t>Avance visual.
Se tacha lo que ya hicimos.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80176" y="3017520"/>
            <a:ext cx="155448" cy="164592"/>
          </a:xfrm>
          <a:prstGeom prst="rightArrow">
            <a:avLst/>
          </a:prstGeom>
          <a:solidFill>
            <a:srgbClr val="8A9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1965960"/>
            <a:ext cx="2514600" cy="2286000"/>
          </a:xfrm>
          <a:prstGeom prst="roundRect">
            <a:avLst>
              <a:gd name="adj" fmla="val 6000"/>
            </a:avLst>
          </a:prstGeom>
          <a:solidFill>
            <a:srgbClr val="DCEBEF"/>
          </a:solidFill>
          <a:ln w="25400">
            <a:solidFill>
              <a:srgbClr val="136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428232" y="2240280"/>
            <a:ext cx="420624" cy="420624"/>
          </a:xfrm>
          <a:prstGeom prst="ellipse">
            <a:avLst/>
          </a:prstGeom>
          <a:solidFill>
            <a:srgbClr val="13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224028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8346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2181C"/>
                </a:solidFill>
                <a:latin typeface="Arial"/>
              </a:rPr>
              <a:t>Notion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29184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6646A"/>
                </a:solidFill>
                <a:latin typeface="Calibri"/>
              </a:rPr>
              <a:t>Tareas, BOM y compras
del día a día.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723376" y="3017520"/>
            <a:ext cx="155448" cy="164592"/>
          </a:xfrm>
          <a:prstGeom prst="rightArrow">
            <a:avLst/>
          </a:prstGeom>
          <a:solidFill>
            <a:srgbClr val="8A9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15400" y="1965960"/>
            <a:ext cx="2514600" cy="2286000"/>
          </a:xfrm>
          <a:prstGeom prst="roundRect">
            <a:avLst>
              <a:gd name="adj" fmla="val 6000"/>
            </a:avLst>
          </a:prstGeom>
          <a:solidFill>
            <a:srgbClr val="EDE9F5"/>
          </a:solidFill>
          <a:ln w="25400">
            <a:solidFill>
              <a:srgbClr val="5C4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171432" y="2240280"/>
            <a:ext cx="420624" cy="420624"/>
          </a:xfrm>
          <a:prstGeom prst="ellipse">
            <a:avLst/>
          </a:prstGeom>
          <a:solidFill>
            <a:srgbClr val="5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1432" y="224028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28346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2181C"/>
                </a:solidFill>
                <a:latin typeface="Arial"/>
              </a:rPr>
              <a:t>Canvas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329184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6646A"/>
                </a:solidFill>
                <a:latin typeface="Calibri"/>
              </a:rPr>
              <a:t>Entregas oficiales.
Lo que se califica.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572000"/>
            <a:ext cx="10744200" cy="1600200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60120" y="480060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2181C"/>
                </a:solidFill>
                <a:latin typeface="Arial"/>
              </a:rPr>
              <a:t>Lo que lo hace distinto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193792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450" b="0" i="0">
                <a:solidFill>
                  <a:srgbClr val="12181C"/>
                </a:solidFill>
                <a:latin typeface="Calibri"/>
              </a:rPr>
              <a:t>Cuando subes un archivo a GitHub, el sistema lo lee, lo indexa y marca solo la tarea que ese archivo demuestra.</a:t>
            </a:r>
          </a:p>
          <a:p>
            <a:pPr algn="l">
              <a:lnSpc>
                <a:spcPts val="2400"/>
              </a:lnSpc>
            </a:pPr>
            <a:r>
              <a:rPr sz="1450" b="0" i="0">
                <a:solidFill>
                  <a:srgbClr val="12181C"/>
                </a:solidFill>
                <a:latin typeface="Calibri"/>
              </a:rPr>
              <a:t>No hay que actualizar el tablero a mano: se actualiza con el trabajo real que ya estabas haciendo.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181C"/>
                </a:solidFill>
                <a:latin typeface="Arial"/>
              </a:rPr>
              <a:t>GitHub — la fuente de verdad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6646A"/>
                </a:solidFill>
                <a:latin typeface="Calibri"/>
              </a:rPr>
              <a:t>Todo lo que producimos vive aquí y queda versionado.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u="sng">
                <a:solidFill>
                  <a:srgbClr val="105A6E"/>
                </a:solidFill>
                <a:latin typeface="Courier New"/>
                <a:hlinkClick r:id="rId2"/>
              </a:rPr>
              <a:t>github.com/Giovann1-C/Ciberf-sicos-7mo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40280"/>
            <a:ext cx="5349240" cy="2743200"/>
          </a:xfrm>
          <a:prstGeom prst="roundRect">
            <a:avLst>
              <a:gd name="adj" fmla="val 6000"/>
            </a:avLst>
          </a:prstGeom>
          <a:solidFill>
            <a:srgbClr val="E3F1E8"/>
          </a:solidFill>
          <a:ln w="25400">
            <a:solidFill>
              <a:srgbClr val="2C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C7A4E"/>
                </a:solidFill>
                <a:latin typeface="Arial"/>
              </a:rPr>
              <a:t>Sí va aquí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47548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0" i="0">
                <a:solidFill>
                  <a:srgbClr val="12181C"/>
                </a:solidFill>
                <a:latin typeface="Calibri"/>
              </a:rPr>
              <a:t>·  Documentación: planes, reportes, cálculos</a:t>
            </a:r>
          </a:p>
          <a:p>
            <a:pPr algn="l">
              <a:spcAft>
                <a:spcPts val="900"/>
              </a:spcAft>
            </a:pPr>
            <a:r>
              <a:rPr sz="1350" b="0" i="0">
                <a:solidFill>
                  <a:srgbClr val="12181C"/>
                </a:solidFill>
                <a:latin typeface="Calibri"/>
              </a:rPr>
              <a:t>·  Códigos: ROS 2, firmware del NXP, scripts</a:t>
            </a:r>
          </a:p>
          <a:p>
            <a:pPr algn="l">
              <a:spcAft>
                <a:spcPts val="900"/>
              </a:spcAft>
            </a:pPr>
            <a:r>
              <a:rPr sz="1350" b="0" i="0">
                <a:solidFill>
                  <a:srgbClr val="12181C"/>
                </a:solidFill>
                <a:latin typeface="Calibri"/>
              </a:rPr>
              <a:t>·  Planos y dibujos en PDF</a:t>
            </a:r>
          </a:p>
          <a:p>
            <a:pPr algn="l">
              <a:spcAft>
                <a:spcPts val="900"/>
              </a:spcAft>
            </a:pPr>
            <a:r>
              <a:rPr sz="1350" b="0" i="0">
                <a:solidFill>
                  <a:srgbClr val="12181C"/>
                </a:solidFill>
                <a:latin typeface="Calibri"/>
              </a:rPr>
              <a:t>·  Cotizaciones y órdenes de compra</a:t>
            </a:r>
          </a:p>
          <a:p>
            <a:pPr algn="l">
              <a:spcAft>
                <a:spcPts val="900"/>
              </a:spcAft>
            </a:pPr>
            <a:r>
              <a:rPr sz="1350" b="0" i="0">
                <a:solidFill>
                  <a:srgbClr val="12181C"/>
                </a:solidFill>
                <a:latin typeface="Calibri"/>
              </a:rPr>
              <a:t>·  Protocolos y resultados de pruebas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240280"/>
            <a:ext cx="5120640" cy="2743200"/>
          </a:xfrm>
          <a:prstGeom prst="roundRect">
            <a:avLst>
              <a:gd name="adj" fmla="val 6000"/>
            </a:avLst>
          </a:prstGeom>
          <a:solidFill>
            <a:srgbClr val="FBEAE8"/>
          </a:solidFill>
          <a:ln w="25400">
            <a:solidFill>
              <a:srgbClr val="AC2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29400" y="24688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AC2A21"/>
                </a:solidFill>
                <a:latin typeface="Arial"/>
              </a:rPr>
              <a:t>No va aquí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926080"/>
            <a:ext cx="44805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0" i="0">
                <a:solidFill>
                  <a:srgbClr val="12181C"/>
                </a:solidFill>
                <a:latin typeface="Calibri"/>
              </a:rPr>
              <a:t>·  CAD pesado, ZIP, STEP, video → Teams</a:t>
            </a:r>
          </a:p>
          <a:p>
            <a:pPr algn="l">
              <a:spcAft>
                <a:spcPts val="900"/>
              </a:spcAft>
            </a:pPr>
            <a:r>
              <a:rPr sz="1350" b="0" i="0">
                <a:solidFill>
                  <a:srgbClr val="12181C"/>
                </a:solidFill>
                <a:latin typeface="Calibri"/>
              </a:rPr>
              <a:t>·  Material con derechos de los profes</a:t>
            </a:r>
          </a:p>
          <a:p>
            <a:pPr algn="l">
              <a:spcAft>
                <a:spcPts val="900"/>
              </a:spcAft>
            </a:pPr>
            <a:r>
              <a:rPr sz="1350" b="0" i="0">
                <a:solidFill>
                  <a:srgbClr val="12181C"/>
                </a:solidFill>
                <a:latin typeface="Calibri"/>
              </a:rPr>
              <a:t>·  Contraseñas o tokens de cualquier tipo</a:t>
            </a:r>
          </a:p>
          <a:p>
            <a:pPr algn="l">
              <a:spcAft>
                <a:spcPts val="900"/>
              </a:spcAft>
            </a:pPr>
            <a:r>
              <a:rPr sz="1350" b="0" i="0">
                <a:solidFill>
                  <a:srgbClr val="12181C"/>
                </a:solidFill>
                <a:latin typeface="Calibri"/>
              </a:rPr>
              <a:t>·  Datos personales de cualquiera de nosotros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212080"/>
            <a:ext cx="10744200" cy="960120"/>
          </a:xfrm>
          <a:prstGeom prst="roundRect">
            <a:avLst>
              <a:gd name="adj" fmla="val 6000"/>
            </a:avLst>
          </a:prstGeom>
          <a:solidFill>
            <a:srgbClr val="FBE7DF"/>
          </a:solidFill>
          <a:ln w="25400">
            <a:solidFill>
              <a:srgbClr val="D849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60120" y="5376672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sz="1350" b="0" i="0">
                <a:solidFill>
                  <a:srgbClr val="12181C"/>
                </a:solidFill>
                <a:latin typeface="Calibri"/>
              </a:rPr>
              <a:t>El repositorio es PÚBLICO: cualquiera en internet lo ve y el historial de git es permanente.</a:t>
            </a:r>
          </a:p>
          <a:p>
            <a:pPr algn="l">
              <a:lnSpc>
                <a:spcPts val="2300"/>
              </a:lnSpc>
            </a:pPr>
            <a:r>
              <a:rPr sz="1350" b="0" i="0">
                <a:solidFill>
                  <a:srgbClr val="12181C"/>
                </a:solidFill>
                <a:latin typeface="Calibri"/>
              </a:rPr>
              <a:t>Antes de subir algo, pregúntate si te incomodaría que lo viera un desconocido.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181C"/>
                </a:solidFill>
                <a:latin typeface="Arial"/>
              </a:rPr>
              <a:t>El tablero — dónde vemos el avance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6646A"/>
                </a:solidFill>
                <a:latin typeface="Calibri"/>
              </a:rPr>
              <a:t>54 tareas repartidas en los 6 bloques del proyecto, más los 6 hitos del semestre.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u="sng">
                <a:solidFill>
                  <a:srgbClr val="105A6E"/>
                </a:solidFill>
                <a:latin typeface="Courier New"/>
                <a:hlinkClick r:id="rId2"/>
              </a:rPr>
              <a:t>claude.ai/code/artifact/60424a47-dd4a-4886-b8c6-f7c64939065b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40280"/>
            <a:ext cx="3383280" cy="2194560"/>
          </a:xfrm>
          <a:prstGeom prst="roundRect">
            <a:avLst>
              <a:gd name="adj" fmla="val 6000"/>
            </a:avLst>
          </a:prstGeom>
          <a:solidFill>
            <a:srgbClr val="DCEBEF"/>
          </a:solidFill>
          <a:ln w="25400">
            <a:solidFill>
              <a:srgbClr val="136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2181C"/>
                </a:solidFill>
                <a:latin typeface="Arial"/>
              </a:rPr>
              <a:t>Un clic en la tarea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71800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6646A"/>
                </a:solidFill>
                <a:latin typeface="Calibri"/>
              </a:rPr>
              <a:t>Avanza su estado:
por hacer → en curso → hecha.
Se tacha sola al cerrarse.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240280"/>
            <a:ext cx="3383280" cy="2194560"/>
          </a:xfrm>
          <a:prstGeom prst="roundRect">
            <a:avLst>
              <a:gd name="adj" fmla="val 6000"/>
            </a:avLst>
          </a:prstGeom>
          <a:solidFill>
            <a:srgbClr val="EDE9F5"/>
          </a:solidFill>
          <a:ln w="25400">
            <a:solidFill>
              <a:srgbClr val="5C4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17720" y="25146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2181C"/>
                </a:solidFill>
                <a:latin typeface="Arial"/>
              </a:rPr>
              <a:t>Un clic en el nombre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971800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6646A"/>
                </a:solidFill>
                <a:latin typeface="Calibri"/>
              </a:rPr>
              <a:t>Cambia el responsable.
Así queda claro quién
tiene cada cosa.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240280"/>
            <a:ext cx="3383280" cy="2194560"/>
          </a:xfrm>
          <a:prstGeom prst="roundRect">
            <a:avLst>
              <a:gd name="adj" fmla="val 6000"/>
            </a:avLst>
          </a:prstGeom>
          <a:solidFill>
            <a:srgbClr val="E3F1E8"/>
          </a:solidFill>
          <a:ln w="25400">
            <a:solidFill>
              <a:srgbClr val="2C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75320" y="25146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2181C"/>
                </a:solidFill>
                <a:latin typeface="Arial"/>
              </a:rPr>
              <a:t>Todos lo 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971800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6646A"/>
                </a:solidFill>
                <a:latin typeface="Calibri"/>
              </a:rPr>
              <a:t>El cambio se guarda para
el equipo completo.
No hay que avisar a nadie.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663440"/>
            <a:ext cx="10744200" cy="1463040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0120" y="4864608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2181C"/>
                </a:solidFill>
                <a:latin typeface="Arial"/>
              </a:rPr>
              <a:t>No necesitan cuenta de nada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25780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400" b="0" i="0">
                <a:solidFill>
                  <a:srgbClr val="56646A"/>
                </a:solidFill>
                <a:latin typeface="Calibri"/>
              </a:rPr>
              <a:t>Se abre con el link y ya. Las tareas marcadas con ● rojo son las críticas para el calendario:</a:t>
            </a:r>
          </a:p>
          <a:p>
            <a:pPr algn="l">
              <a:lnSpc>
                <a:spcPts val="2400"/>
              </a:lnSpc>
            </a:pPr>
            <a:r>
              <a:rPr sz="1400" b="0" i="0">
                <a:solidFill>
                  <a:srgbClr val="56646A"/>
                </a:solidFill>
                <a:latin typeface="Calibri"/>
              </a:rPr>
              <a:t>si esas se atrasan, se atrasa todo el proyecto.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181C"/>
                </a:solidFill>
                <a:latin typeface="Arial"/>
              </a:rPr>
              <a:t>Cómo se tacha solo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6646A"/>
                </a:solidFill>
                <a:latin typeface="Calibri"/>
              </a:rPr>
              <a:t>Esta es la única regla nueva que tienen que aprender. Vale la pena.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744200" cy="1371600"/>
          </a:xfrm>
          <a:prstGeom prst="roundRect">
            <a:avLst>
              <a:gd name="adj" fmla="val 6000"/>
            </a:avLst>
          </a:prstGeom>
          <a:solidFill>
            <a:srgbClr val="1B2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Subes un archivo con el nombre correcto → la tarea se marca sola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5DEE1"/>
                </a:solidFill>
                <a:latin typeface="Calibri"/>
              </a:rPr>
              <a:t>El sistema lee el nombre del archivo, encuentra la tarea que corresponde y actualiza el tablero.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429000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FBEAE8"/>
          </a:solidFill>
          <a:ln w="25400">
            <a:solidFill>
              <a:srgbClr val="AC2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5840" y="363931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AC2A21"/>
                </a:solidFill>
                <a:latin typeface="Arial"/>
              </a:rPr>
              <a:t>Queda EN CURSO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690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2181C"/>
                </a:solidFill>
                <a:latin typeface="Courier New"/>
              </a:rPr>
              <a:t>chasis-agv.pdf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6646A"/>
                </a:solidFill>
                <a:latin typeface="Calibri"/>
              </a:rPr>
              <a:t>Prueba que alguien trabajó en el chasis, pero no que esté terminado. El sistema no asume.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429000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E3F1E8"/>
          </a:solidFill>
          <a:ln w="25400">
            <a:solidFill>
              <a:srgbClr val="2C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29400" y="3639312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C7A4E"/>
                </a:solidFill>
                <a:latin typeface="Arial"/>
              </a:rPr>
              <a:t>Queda HECHA y tachada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06908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2181C"/>
                </a:solidFill>
                <a:latin typeface="Courier New"/>
              </a:rPr>
              <a:t>chasis-agv-final.pdf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434840"/>
            <a:ext cx="4480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6646A"/>
                </a:solidFill>
                <a:latin typeface="Calibri"/>
              </a:rPr>
              <a:t>El nombre declara que el trabajo cerró. Eso sí lo damos por hecho.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806440"/>
            <a:ext cx="10744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2181C"/>
                </a:solidFill>
                <a:latin typeface="Calibri"/>
              </a:rPr>
              <a:t>Palabras que cierran una tarea:   final · aprobado · firmado · liberado · validado · entregado · terminado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181C"/>
                </a:solidFill>
                <a:latin typeface="Arial"/>
              </a:rPr>
              <a:t>Las otras dos herramientas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6646A"/>
                </a:solidFill>
                <a:latin typeface="Calibri"/>
              </a:rPr>
              <a:t>Una para entender el proyecto, otra para el día a día.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349240" cy="3566160"/>
          </a:xfrm>
          <a:prstGeom prst="roundRect">
            <a:avLst>
              <a:gd name="adj" fmla="val 6000"/>
            </a:avLst>
          </a:prstGeom>
          <a:solidFill>
            <a:srgbClr val="DCEBEF"/>
          </a:solidFill>
          <a:ln w="25400">
            <a:solidFill>
              <a:srgbClr val="136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2084831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2181C"/>
                </a:solidFill>
                <a:latin typeface="Arial"/>
              </a:rPr>
              <a:t>Diagramas de arquitectura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2181C"/>
                </a:solidFill>
                <a:latin typeface="Calibri"/>
              </a:rPr>
              <a:t>Cinco diagramas que explican la celda completa: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2181C"/>
                </a:solidFill>
                <a:latin typeface="Calibri"/>
              </a:rPr>
              <a:t>·  Cronograma y por qué las compras mandan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2181C"/>
                </a:solidFill>
                <a:latin typeface="Calibri"/>
              </a:rPr>
              <a:t>·  Arquitectura física y capas de red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2181C"/>
                </a:solidFill>
                <a:latin typeface="Calibri"/>
              </a:rPr>
              <a:t>·  Las tres capas de cómputo y la seguridad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2181C"/>
                </a:solidFill>
                <a:latin typeface="Calibri"/>
              </a:rPr>
              <a:t>·  El ciclo de operación paso a paso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2181C"/>
                </a:solidFill>
                <a:latin typeface="Calibri"/>
              </a:rPr>
              <a:t>·  Cómo trabajamos entre nosotros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4348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56646A"/>
                </a:solidFill>
                <a:latin typeface="Calibri"/>
              </a:rPr>
              <a:t>Úsenlo para entender qué hace su parte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846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u="sng">
                <a:solidFill>
                  <a:srgbClr val="105A6E"/>
                </a:solidFill>
                <a:latin typeface="Courier New"/>
                <a:hlinkClick r:id="rId2"/>
              </a:rPr>
              <a:t>claude.ai/code/artifact/a16da71d-e2ac-4…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120640" cy="3566160"/>
          </a:xfrm>
          <a:prstGeom prst="roundRect">
            <a:avLst>
              <a:gd name="adj" fmla="val 6000"/>
            </a:avLst>
          </a:prstGeom>
          <a:solidFill>
            <a:srgbClr val="EDE9F5"/>
          </a:solidFill>
          <a:ln w="25400">
            <a:solidFill>
              <a:srgbClr val="5C4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629400" y="2084831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2181C"/>
                </a:solidFill>
                <a:latin typeface="Arial"/>
              </a:rPr>
              <a:t>Notion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06040"/>
            <a:ext cx="44805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2181C"/>
                </a:solidFill>
                <a:latin typeface="Calibri"/>
              </a:rPr>
              <a:t>Dos bases donde capturamos el día a día: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2181C"/>
                </a:solidFill>
                <a:latin typeface="Calibri"/>
              </a:rPr>
              <a:t>·  Tareas del equipo, con fecha y responsable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2181C"/>
                </a:solidFill>
                <a:latin typeface="Calibri"/>
              </a:rPr>
              <a:t>·  BOM y Compras: los 20 materiales con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2181C"/>
                </a:solidFill>
                <a:latin typeface="Calibri"/>
              </a:rPr>
              <a:t>    proveedor, costo y cuándo llegan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2181C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2181C"/>
                </a:solidFill>
                <a:latin typeface="Calibri"/>
              </a:rPr>
              <a:t>Aquí es donde actualizan cotizaciones.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4348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56646A"/>
                </a:solidFill>
                <a:latin typeface="Calibri"/>
              </a:rPr>
              <a:t>Pídanle a Rodrigo que los invite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8463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u="sng">
                <a:solidFill>
                  <a:srgbClr val="105A6E"/>
                </a:solidFill>
                <a:latin typeface="Courier New"/>
                <a:hlinkClick r:id="rId3"/>
              </a:rPr>
              <a:t>app.notion.com/p/3c763d9e84498109aed6…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181C"/>
                </a:solidFill>
                <a:latin typeface="Arial"/>
              </a:rPr>
              <a:t>Las órdenes de compra se generan solas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6646A"/>
                </a:solidFill>
                <a:latin typeface="Calibri"/>
              </a:rPr>
              <a:t>En el formato exacto de las plantillas del profe, numeradas y registradas.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744200" cy="1051560"/>
          </a:xfrm>
          <a:prstGeom prst="roundRect">
            <a:avLst>
              <a:gd name="adj" fmla="val 6000"/>
            </a:avLst>
          </a:prstGeom>
          <a:solidFill>
            <a:srgbClr val="1B2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2121408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FD8E6"/>
                </a:solidFill>
                <a:latin typeface="Courier New"/>
              </a:rPr>
              <a:t>python herramientas/erp.py po --proveedor "Nexus" --items "MEC-RUE-MECANUM-100:4"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108960"/>
            <a:ext cx="3383280" cy="1920240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336499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36A80"/>
                </a:solidFill>
                <a:latin typeface="Arial"/>
              </a:rPr>
              <a:t>Código de material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6646A"/>
                </a:solidFill>
                <a:latin typeface="Calibri"/>
              </a:rPr>
              <a:t>Se genera solo:
INS-LID-2D-360.
Nada de nombres inventados.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108960"/>
            <a:ext cx="3383280" cy="1920240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17720" y="336499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8491A"/>
                </a:solidFill>
                <a:latin typeface="Arial"/>
              </a:rPr>
              <a:t>Orden de compra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822191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6646A"/>
                </a:solidFill>
                <a:latin typeface="Calibri"/>
              </a:rPr>
              <a:t>Excel listo para firmar,
con total y lead time,
registrado en bitácora.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3108960"/>
            <a:ext cx="3383280" cy="1920240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75320" y="336499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5C4A8A"/>
                </a:solidFill>
                <a:latin typeface="Arial"/>
              </a:rPr>
              <a:t>Orden de fabricación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822191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6646A"/>
                </a:solidFill>
                <a:latin typeface="Calibri"/>
              </a:rPr>
              <a:t>Con hoja viajera y las
7 estaciones que pide
el profe.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257800"/>
            <a:ext cx="10744200" cy="914400"/>
          </a:xfrm>
          <a:prstGeom prst="roundRect">
            <a:avLst>
              <a:gd name="adj" fmla="val 6000"/>
            </a:avLst>
          </a:prstGeom>
          <a:solidFill>
            <a:srgbClr val="FBE7DF"/>
          </a:solidFill>
          <a:ln w="25400">
            <a:solidFill>
              <a:srgbClr val="D849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5468112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2181C"/>
                </a:solidFill>
                <a:latin typeface="Calibri"/>
              </a:rPr>
              <a:t>Ninguna compra sin orden registrada. Es lo que nos van a pedir demostrar, y ya lo tenemos automatizado.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181C"/>
                </a:solidFill>
                <a:latin typeface="Arial"/>
              </a:rPr>
              <a:t>Y Claude, ¿qué hace exactamente?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6646A"/>
                </a:solidFill>
                <a:latin typeface="Calibri"/>
              </a:rPr>
              <a:t>Rodrigo lo opera. Nadie más necesita cuenta, y nadie comparte la suya.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349240" cy="3657600"/>
          </a:xfrm>
          <a:prstGeom prst="roundRect">
            <a:avLst>
              <a:gd name="adj" fmla="val 6000"/>
            </a:avLst>
          </a:prstGeom>
          <a:solidFill>
            <a:srgbClr val="E3F1E8"/>
          </a:solidFill>
          <a:ln w="25400">
            <a:solidFill>
              <a:srgbClr val="2C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C7A4E"/>
                </a:solidFill>
                <a:latin typeface="Arial"/>
              </a:rPr>
              <a:t>Lo que hace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42032"/>
            <a:ext cx="475488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12181C"/>
                </a:solidFill>
                <a:latin typeface="Calibri"/>
              </a:rPr>
              <a:t>·  Lee lo que subimos a GitHub y actualiza el tablero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12181C"/>
                </a:solidFill>
                <a:latin typeface="Calibri"/>
              </a:rPr>
              <a:t>·  Genera órdenes de compra y hojas viajeras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12181C"/>
                </a:solidFill>
                <a:latin typeface="Calibri"/>
              </a:rPr>
              <a:t>·  Avisa qué material va tarde según su lead time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12181C"/>
                </a:solidFill>
                <a:latin typeface="Calibri"/>
              </a:rPr>
              <a:t>·  Responde dudas citando archivo y página de un índice de 81 documentos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12181C"/>
                </a:solidFill>
                <a:latin typeface="Calibri"/>
              </a:rPr>
              <a:t>·  Escribe la documentación formal del proyecto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120640" cy="3657600"/>
          </a:xfrm>
          <a:prstGeom prst="roundRect">
            <a:avLst>
              <a:gd name="adj" fmla="val 6000"/>
            </a:avLst>
          </a:prstGeom>
          <a:solidFill>
            <a:srgbClr val="FBEAE8"/>
          </a:solidFill>
          <a:ln w="25400">
            <a:solidFill>
              <a:srgbClr val="AC2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29400" y="20574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AC2A21"/>
                </a:solidFill>
                <a:latin typeface="Arial"/>
              </a:rPr>
              <a:t>Lo que NO hace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542032"/>
            <a:ext cx="448056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12181C"/>
                </a:solidFill>
                <a:latin typeface="Calibri"/>
              </a:rPr>
              <a:t>·  No decide por nosotros. Señala problemas; decidimos nosotros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12181C"/>
                </a:solidFill>
                <a:latin typeface="Calibri"/>
              </a:rPr>
              <a:t>·  No compra nada. Genera la orden, la autoriza una persona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12181C"/>
                </a:solidFill>
                <a:latin typeface="Calibri"/>
              </a:rPr>
              <a:t>·  No inventa avance. Sin archivo, la tarea no se mueve</a:t>
            </a:r>
          </a:p>
          <a:p>
            <a:pPr algn="l">
              <a:spcAft>
                <a:spcPts val="1000"/>
              </a:spcAft>
            </a:pPr>
            <a:r>
              <a:rPr sz="1350" b="0" i="0">
                <a:solidFill>
                  <a:srgbClr val="12181C"/>
                </a:solidFill>
                <a:latin typeface="Calibri"/>
              </a:rPr>
              <a:t>·  No sustituye el criterio de ingeniería de nadie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715000"/>
            <a:ext cx="10744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0" i="1">
                <a:solidFill>
                  <a:srgbClr val="56646A"/>
                </a:solidFill>
                <a:latin typeface="Calibri"/>
              </a:rPr>
              <a:t>Es un asistente que recuerda y documenta. El proyecto sigue siendo nuestro.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181C"/>
                </a:solidFill>
                <a:latin typeface="Arial"/>
              </a:rPr>
              <a:t>El ritmo de la semana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6646A"/>
                </a:solidFill>
                <a:latin typeface="Calibri"/>
              </a:rPr>
              <a:t>Cinco momentos. Nada más.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10744200" cy="731520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914400" y="2020824"/>
            <a:ext cx="1691640" cy="438912"/>
          </a:xfrm>
          <a:prstGeom prst="roundRect">
            <a:avLst>
              <a:gd name="adj" fmla="val 6000"/>
            </a:avLst>
          </a:prstGeom>
          <a:solidFill>
            <a:srgbClr val="13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2020824"/>
            <a:ext cx="1691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Lunes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874519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12181C"/>
                </a:solidFill>
                <a:latin typeface="Calibri"/>
              </a:rPr>
              <a:t>Junta de avance. Actualizamos Notion con lo que hicimos y lo que se atoró.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1874519"/>
            <a:ext cx="1691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50" b="0" i="0">
                <a:solidFill>
                  <a:srgbClr val="56646A"/>
                </a:solidFill>
                <a:latin typeface="Calibri"/>
              </a:rPr>
              <a:t>Todos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15768"/>
            <a:ext cx="10744200" cy="731520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914400" y="2862072"/>
            <a:ext cx="1691640" cy="438912"/>
          </a:xfrm>
          <a:prstGeom prst="roundRect">
            <a:avLst>
              <a:gd name="adj" fmla="val 6000"/>
            </a:avLst>
          </a:prstGeom>
          <a:solidFill>
            <a:srgbClr val="D84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2862072"/>
            <a:ext cx="1691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Al terminar algo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715768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12181C"/>
                </a:solidFill>
                <a:latin typeface="Calibri"/>
              </a:rPr>
              <a:t>Subes el archivo a GitHub con el nombre correcto. Ya está.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715768"/>
            <a:ext cx="1691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50" b="0" i="0">
                <a:solidFill>
                  <a:srgbClr val="56646A"/>
                </a:solidFill>
                <a:latin typeface="Calibri"/>
              </a:rPr>
              <a:t>Quien lo hizo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57015"/>
            <a:ext cx="10744200" cy="731520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914400" y="3703320"/>
            <a:ext cx="1691640" cy="438912"/>
          </a:xfrm>
          <a:prstGeom prst="roundRect">
            <a:avLst>
              <a:gd name="adj" fmla="val 6000"/>
            </a:avLst>
          </a:prstGeom>
          <a:solidFill>
            <a:srgbClr val="5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1691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Al cotizar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557015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12181C"/>
                </a:solidFill>
                <a:latin typeface="Calibri"/>
              </a:rPr>
              <a:t>Actualizas proveedor, costo y lead time en el BOM de Notion.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557015"/>
            <a:ext cx="1691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50" b="0" i="0">
                <a:solidFill>
                  <a:srgbClr val="56646A"/>
                </a:solidFill>
                <a:latin typeface="Calibri"/>
              </a:rPr>
              <a:t>Quien cotiza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398264"/>
            <a:ext cx="10744200" cy="731520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914400" y="4544568"/>
            <a:ext cx="1691640" cy="438912"/>
          </a:xfrm>
          <a:prstGeom prst="roundRect">
            <a:avLst>
              <a:gd name="adj" fmla="val 6000"/>
            </a:avLst>
          </a:prstGeom>
          <a:solidFill>
            <a:srgbClr val="D84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4400" y="4544568"/>
            <a:ext cx="1691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Cuando haya que comprar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4398264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12181C"/>
                </a:solidFill>
                <a:latin typeface="Calibri"/>
              </a:rPr>
              <a:t>Se emite la orden y queda registrada.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4398264"/>
            <a:ext cx="1691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50" b="0" i="0">
                <a:solidFill>
                  <a:srgbClr val="56646A"/>
                </a:solidFill>
                <a:latin typeface="Calibri"/>
              </a:rPr>
              <a:t>Rodrigo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239512"/>
            <a:ext cx="10744200" cy="731520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914400" y="5385816"/>
            <a:ext cx="1691640" cy="438912"/>
          </a:xfrm>
          <a:prstGeom prst="roundRect">
            <a:avLst>
              <a:gd name="adj" fmla="val 6000"/>
            </a:avLst>
          </a:prstGeom>
          <a:solidFill>
            <a:srgbClr val="AC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4400" y="5385816"/>
            <a:ext cx="1691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Viernes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5239512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12181C"/>
                </a:solidFill>
                <a:latin typeface="Calibri"/>
              </a:rPr>
              <a:t>Revisamos riesgos y avance contra el plan. Vemos qué se va a atorar.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5239512"/>
            <a:ext cx="16916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50" b="0" i="0">
                <a:solidFill>
                  <a:srgbClr val="56646A"/>
                </a:solidFill>
                <a:latin typeface="Calibri"/>
              </a:rPr>
              <a:t>Todos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172200"/>
            <a:ext cx="10744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AC2A21"/>
                </a:solidFill>
                <a:latin typeface="Calibri"/>
              </a:rPr>
              <a:t>Si algo te bloquea, márcalo en Notion el mismo día. Una tarea bloqueada en silencio es la que hunde el proyecto.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Lo que necesito de cada quien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2103120"/>
            <a:ext cx="566928" cy="566928"/>
          </a:xfrm>
          <a:prstGeom prst="ellipse">
            <a:avLst/>
          </a:prstGeom>
          <a:solidFill>
            <a:srgbClr val="D84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084831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Arial"/>
              </a:rPr>
              <a:t>Sube tu trabajo a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2103120"/>
            <a:ext cx="5577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AEBDC2"/>
                </a:solidFill>
                <a:latin typeface="Calibri"/>
              </a:rPr>
              <a:t>Con el nombre correcto. Es lo único que cambia respecto a como veníamos trabajando.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154679"/>
            <a:ext cx="566928" cy="566928"/>
          </a:xfrm>
          <a:prstGeom prst="ellipse">
            <a:avLst/>
          </a:prstGeom>
          <a:solidFill>
            <a:srgbClr val="D84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54679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136391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Arial"/>
              </a:rPr>
              <a:t>Marca tu tarea en el tablero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154679"/>
            <a:ext cx="5577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AEBDC2"/>
                </a:solidFill>
                <a:latin typeface="Calibri"/>
              </a:rPr>
              <a:t>Treinta segundos. Así nadie tiene que preguntarte cómo vas.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206240"/>
            <a:ext cx="566928" cy="566928"/>
          </a:xfrm>
          <a:prstGeom prst="ellipse">
            <a:avLst/>
          </a:prstGeom>
          <a:solidFill>
            <a:srgbClr val="D84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187952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Arial"/>
              </a:rPr>
              <a:t>Avisa cuando te bloquees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4206240"/>
            <a:ext cx="5577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AEBDC2"/>
                </a:solidFill>
                <a:latin typeface="Calibri"/>
              </a:rPr>
              <a:t>El mismo día, en Notion o en Teams. No la siguiente junta.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5257800"/>
            <a:ext cx="566928" cy="566928"/>
          </a:xfrm>
          <a:prstGeom prst="ellipse">
            <a:avLst/>
          </a:prstGeom>
          <a:solidFill>
            <a:srgbClr val="D84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2578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239512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Arial"/>
              </a:rPr>
              <a:t>Nombra bien los archivos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5257800"/>
            <a:ext cx="5577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AEBDC2"/>
                </a:solidFill>
                <a:latin typeface="Calibri"/>
              </a:rPr>
              <a:t>chasis-agv-final.pdf, no documento1.pdf ni WhatsApp Image.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2636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D8491A"/>
                </a:solidFill>
                <a:latin typeface="Calibri"/>
              </a:rPr>
              <a:t>Eso es todo. El resto lo hace el sistema.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181C"/>
                </a:solidFill>
                <a:latin typeface="Arial"/>
              </a:rPr>
              <a:t>Todos los accesos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6646A"/>
                </a:solidFill>
                <a:latin typeface="Calibri"/>
              </a:rPr>
              <a:t>Guarden esta diapositiva.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744200" cy="566928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914400" y="2029968"/>
            <a:ext cx="164592" cy="164592"/>
          </a:xfrm>
          <a:prstGeom prst="ellipse">
            <a:avLst/>
          </a:prstGeom>
          <a:solidFill>
            <a:srgbClr val="D84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828800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2181C"/>
                </a:solidFill>
                <a:latin typeface="Calibri"/>
              </a:rPr>
              <a:t>Repositorio del equipo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828800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6646A"/>
                </a:solidFill>
                <a:latin typeface="Calibri"/>
              </a:rPr>
              <a:t>Documentación, códigos y herramientas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828800"/>
            <a:ext cx="4343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u="sng">
                <a:solidFill>
                  <a:srgbClr val="105A6E"/>
                </a:solidFill>
                <a:latin typeface="Courier New"/>
                <a:hlinkClick r:id="rId2"/>
              </a:rPr>
              <a:t>github.com/Giovann1-C/Ciberf-sicos-7mo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744200" cy="566928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914400" y="2688336"/>
            <a:ext cx="164592" cy="164592"/>
          </a:xfrm>
          <a:prstGeom prst="ellipse">
            <a:avLst/>
          </a:prstGeom>
          <a:solidFill>
            <a:srgbClr val="2C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487168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2181C"/>
                </a:solidFill>
                <a:latin typeface="Calibri"/>
              </a:rPr>
              <a:t>Tablero de avance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487168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6646A"/>
                </a:solidFill>
                <a:latin typeface="Calibri"/>
              </a:rPr>
              <a:t>Marcar tareas y ver cómo vamos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487168"/>
            <a:ext cx="4343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u="sng">
                <a:solidFill>
                  <a:srgbClr val="105A6E"/>
                </a:solidFill>
                <a:latin typeface="Courier New"/>
                <a:hlinkClick r:id="rId3"/>
              </a:rPr>
              <a:t>claude.ai/code/artifact/60424a47-dd4a-4886-…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45536"/>
            <a:ext cx="10744200" cy="566928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14400" y="3346704"/>
            <a:ext cx="164592" cy="164592"/>
          </a:xfrm>
          <a:prstGeom prst="ellipse">
            <a:avLst/>
          </a:prstGeom>
          <a:solidFill>
            <a:srgbClr val="13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2181C"/>
                </a:solidFill>
                <a:latin typeface="Calibri"/>
              </a:rPr>
              <a:t>Diagramas del proyecto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145536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6646A"/>
                </a:solidFill>
                <a:latin typeface="Calibri"/>
              </a:rPr>
              <a:t>Entender la celda completa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145536"/>
            <a:ext cx="4343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u="sng">
                <a:solidFill>
                  <a:srgbClr val="105A6E"/>
                </a:solidFill>
                <a:latin typeface="Courier New"/>
                <a:hlinkClick r:id="rId4"/>
              </a:rPr>
              <a:t>claude.ai/code/artifact/a16da71d-e2ac-409e-…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03904"/>
            <a:ext cx="10744200" cy="566928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14400" y="4005072"/>
            <a:ext cx="164592" cy="164592"/>
          </a:xfrm>
          <a:prstGeom prst="ellipse">
            <a:avLst/>
          </a:prstGeom>
          <a:solidFill>
            <a:srgbClr val="5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3803904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2181C"/>
                </a:solidFill>
                <a:latin typeface="Calibri"/>
              </a:rPr>
              <a:t>Notion — espacio del Reto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803904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6646A"/>
                </a:solidFill>
                <a:latin typeface="Calibri"/>
              </a:rPr>
              <a:t>Tareas, BOM y compras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803904"/>
            <a:ext cx="4343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u="sng">
                <a:solidFill>
                  <a:srgbClr val="105A6E"/>
                </a:solidFill>
                <a:latin typeface="Courier New"/>
                <a:hlinkClick r:id="rId5"/>
              </a:rPr>
              <a:t>app.notion.com/p/3c763d9e84498109aed6f0ff6a…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462272"/>
            <a:ext cx="10744200" cy="566928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914400" y="4663440"/>
            <a:ext cx="164592" cy="164592"/>
          </a:xfrm>
          <a:prstGeom prst="ellipse">
            <a:avLst/>
          </a:prstGeom>
          <a:solidFill>
            <a:srgbClr val="5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4440" y="4462272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2181C"/>
                </a:solidFill>
                <a:latin typeface="Calibri"/>
              </a:rPr>
              <a:t>Notion — Tareas del equipo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4462272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6646A"/>
                </a:solidFill>
                <a:latin typeface="Calibri"/>
              </a:rPr>
              <a:t>WBS con responsable y fecha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462272"/>
            <a:ext cx="4343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u="sng">
                <a:solidFill>
                  <a:srgbClr val="105A6E"/>
                </a:solidFill>
                <a:latin typeface="Courier New"/>
                <a:hlinkClick r:id="rId6"/>
              </a:rPr>
              <a:t>app.notion.com/p/06df2c78fc76404692fdd07c03…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120640"/>
            <a:ext cx="10744200" cy="566928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914400" y="5321807"/>
            <a:ext cx="164592" cy="164592"/>
          </a:xfrm>
          <a:prstGeom prst="ellipse">
            <a:avLst/>
          </a:prstGeom>
          <a:solidFill>
            <a:srgbClr val="5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4440" y="5120640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2181C"/>
                </a:solidFill>
                <a:latin typeface="Calibri"/>
              </a:rPr>
              <a:t>Notion — BOM y Compras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5120640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6646A"/>
                </a:solidFill>
                <a:latin typeface="Calibri"/>
              </a:rPr>
              <a:t>Los 20 materiales y su estado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5120640"/>
            <a:ext cx="4343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u="sng">
                <a:solidFill>
                  <a:srgbClr val="105A6E"/>
                </a:solidFill>
                <a:latin typeface="Courier New"/>
                <a:hlinkClick r:id="rId7"/>
              </a:rPr>
              <a:t>app.notion.com/p/ebf1138625224b23a9982e21b6…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779008"/>
            <a:ext cx="10744200" cy="566928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914400" y="5980176"/>
            <a:ext cx="164592" cy="164592"/>
          </a:xfrm>
          <a:prstGeom prst="ellipse">
            <a:avLst/>
          </a:prstGeom>
          <a:solidFill>
            <a:srgbClr val="566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4440" y="5779008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2181C"/>
                </a:solidFill>
                <a:latin typeface="Calibri"/>
              </a:rPr>
              <a:t>Canvas del curso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5779008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6646A"/>
                </a:solidFill>
                <a:latin typeface="Calibri"/>
              </a:rPr>
              <a:t>Entregas oficiales y evidencias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5779008"/>
            <a:ext cx="4343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u="sng">
                <a:solidFill>
                  <a:srgbClr val="105A6E"/>
                </a:solidFill>
                <a:latin typeface="Courier New"/>
                <a:hlinkClick r:id="rId8"/>
              </a:rPr>
              <a:t>experiencia21.tec.mx/courses/707419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8491A"/>
                </a:solidFill>
                <a:latin typeface="Calibri"/>
              </a:rPr>
              <a:t>POR QUÉ VALE LA PENA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2412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000"/>
              </a:lnSpc>
            </a:pPr>
            <a:r>
              <a:rPr sz="4200" b="1" i="0">
                <a:solidFill>
                  <a:srgbClr val="FFFFFF"/>
                </a:solidFill>
                <a:latin typeface="Arial"/>
              </a:rPr>
              <a:t>No es burocracia:</a:t>
            </a:r>
          </a:p>
          <a:p>
            <a:pPr algn="l">
              <a:lnSpc>
                <a:spcPts val="5000"/>
              </a:lnSpc>
            </a:pPr>
            <a:r>
              <a:rPr sz="4200" b="1" i="0">
                <a:solidFill>
                  <a:srgbClr val="FFFFFF"/>
                </a:solidFill>
                <a:latin typeface="Arial"/>
              </a:rPr>
              <a:t>es no repetir trabajo</a:t>
            </a:r>
          </a:p>
          <a:p>
            <a:pPr algn="l">
              <a:lnSpc>
                <a:spcPts val="5000"/>
              </a:lnSpc>
            </a:pPr>
            <a:r>
              <a:rPr sz="4200" b="1" i="0">
                <a:solidFill>
                  <a:srgbClr val="FFFFFF"/>
                </a:solidFill>
                <a:latin typeface="Arial"/>
              </a:rPr>
              <a:t>y no perder puntos.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66344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600" b="0" i="0">
                <a:solidFill>
                  <a:srgbClr val="AEBDC2"/>
                </a:solidFill>
                <a:latin typeface="Calibri"/>
              </a:rPr>
              <a:t>El Reto vale 36 % de la calificación y las cuatro evidencias son individuales:</a:t>
            </a:r>
          </a:p>
          <a:p>
            <a:pPr algn="l">
              <a:lnSpc>
                <a:spcPts val="2700"/>
              </a:lnSpc>
            </a:pPr>
            <a:r>
              <a:rPr sz="1600" b="0" i="0">
                <a:solidFill>
                  <a:srgbClr val="AEBDC2"/>
                </a:solidFill>
                <a:latin typeface="Calibri"/>
              </a:rPr>
              <a:t>cada quien responde por lo suyo. Este sistema existe para que llegues a esas entregas</a:t>
            </a:r>
          </a:p>
          <a:p>
            <a:pPr algn="l">
              <a:lnSpc>
                <a:spcPts val="2700"/>
              </a:lnSpc>
            </a:pPr>
            <a:r>
              <a:rPr sz="1600" b="0" i="0">
                <a:solidFill>
                  <a:srgbClr val="AEBDC2"/>
                </a:solidFill>
                <a:latin typeface="Calibri"/>
              </a:rPr>
              <a:t>con todo documentado, en lugar de reconstruirlo la noche anterior.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